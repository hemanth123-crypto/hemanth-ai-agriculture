
<file path=[Content_Types].xml><?xml version="1.0" encoding="utf-8"?>
<Types xmlns="http://schemas.openxmlformats.org/package/2006/content-types">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2"/>
  </p:sldMasterIdLst>
  <p:sldIdLst>
    <p:sldId id="256" r:id="rId1"/>
    <p:sldId id="257" r:id="rId2"/>
    <p:sldId id="258" r:id="rId3"/>
    <p:sldId id="259" r:id="rId4"/>
    <p:sldId id="260" r:id="rId5"/>
    <p:sldId id="261" r:id="rId6"/>
    <p:sldId id="262" r:id="rId7"/>
    <p:sldId id="263" r:id="rId8"/>
    <p:sldId id="267" r:id="rId13"/>
    <p:sldId id="264" r:id="rId9"/>
    <p:sldId id="265" r:id="rId10"/>
    <p:sldId id="266" r:id="rId11"/>
  </p:sldIdLst>
  <p:sldSz cx="12192000" cy="6858000" type="wide"/>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Master" Target="slideMasters/slideMaster1.xml"/><Relationship Id="rId13" Type="http://schemas.openxmlformats.org/officeDocument/2006/relationships/slide" Target="slides/slide12.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CropShield AI is a decision-support prototype for agricultural professionals. It combines local hybrid retrieval over historical-style cases, structured advisory modules and Random Forest models. The included 1,500-row dataset is synthetic, so its scores demonstrate the software pipeline rather than real field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farming choices are multivariable, and finding comparable cases manually can be inconsistent and slow. CropShield AI makes evidence easier to inspect. Its sample is generated synthetic data, not a substitute for expert local field knowledge.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workflow integration, not automated authority. Users can search historical records, compare context, inspect options, and request a yield estimate. The tool supports professional review while keeping evidence and uncertainty visible.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implements a RAG-style retrieve-then-assemble workflow. Local deterministic text vectors feed hybrid search; the final advisory is template assembled. The optional compatible provider serves judge components, not the primary answer generator.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CSV cases are preprocessed into row records and features. Browser or optional Streamlit client calls FastAPI; guardrails and a rule-based classifier prepare the query. Hybrid search combines local dense vectors in FAISS, TF-IDF keyword results and metadata alignment before reranking. Advisory modules use retrieved cases; separate Random Forest models predict suitability and yield. The final response is assembled and returned to the UI. Optional LLM judges form a separate provider-dependent path. No ChromaDB, pretrained embeddings, or chunking pipeline is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query is checked before recommendation. The classifier extracts entities and parameters with rules. Retrieval forms candidates using dense and keyword indexes, scores metadata fit and reranks to top K. Agent modules and ML use cases and inputs to assemble results. Provider-dependent LLM evaluation is distinct from ranking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Technologies are verified from source, requirements and settings. Primary UI is static HTML/CSS/JavaScript served by FastAPI; Streamlit is optional. Dense vectors use HashingVectorizer and a seeded projection, not a named pretrained model. FAISS is the vector index; TF-IDF backs keyword search. Live RAGAS and DeepEval scores need a working provider.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uses an orchestrator to coordinate Python modules, not an autonomous-agent framework. The classifier is rule-based. Recommendation, risk, yield and impact modules use structured inputs plus retrieved cases. Validation checks grounding and safety before the final advisor formats output. If a judge provider fails, local retrieval remains usable and estimates are labeled as proxies.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editable mock-up is not a screenshot. The query was run locally through the existing orchestrator with remote judging disabled. It retrieved CASE_0557 (Jute, Odisha, Kharif 2012, 2.26 t/ha), CASE_0363 (Rice, Odisha, Kharif 2018, 3.43 t/ha), and CASE_1426 (Rice, Odisha, Kharif 2012, 3.64 t/ha). Actual recommendations were Rice 0.61 and Jute 0.59; the trained yield regressor returned Rice 3.45 t/ha with approximate 80% interval 2.98?3.92. Data are synthetic, not field observations.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Saved retrieval results have 20 labeled queries: Precision@K is the relevant fraction at K, Recall is the share of expected labels retrieved, MRR rewards a high first relevant rank, and Hit Rate is the share of queries with a hit. Random Forest metrics use 300 held-out rows from synthetic data. High R-squared is not evidence of real-world field accuracy. There are no saved official RAGAS/DeepEval results verified for this deck; dynamic UI proxies are not official scores.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Challenges include synthetic data provenance, a small crop-level benchmark, and external judge failures from network or billing. Crop-only labels do not prove state, season or soil relevance. Implemented lessons include N/A rather than invented labels, preserving retrieval metrics during judge failure, and explicit proxy labeling. Stronger claims need real licensed data and expert labels.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learning is to make data and evaluation provenance visible. Strong performance claims need independently sourced data, expert relevance labels and a reproducible funded judge run. Validate yield prediction on real held-out regional data before operational recommendations.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1"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CropShield AI</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01</a:t>
            </a:r>
          </a:p>
        </p:txBody>
      </p:sp>
      <p:sp>
        <p:nvSpPr>
          <p:cNvPr id="7" name="Rounded Rectangle 6"/>
          <p:cNvSpPr/>
          <p:nvPr/>
        </p:nvSpPr>
        <p:spPr>
          <a:xfrm>
            <a:off x="749808" y="1481328"/>
            <a:ext cx="2971800"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90472"/>
            <a:ext cx="2825496" cy="274320"/>
          </a:xfrm>
          <a:prstGeom prst="rect">
            <a:avLst/>
          </a:prstGeom>
          <a:noFill/>
        </p:spPr>
        <p:txBody>
          <a:bodyPr wrap="square" lIns="9144" rIns="9144" tIns="9144" bIns="9144" anchor="ctr">
            <a:spAutoFit/>
          </a:bodyPr>
          <a:lstStyle/>
          <a:p>
            <a:pPr algn="ctr">
              <a:spcAft>
                <a:spcPts val="200"/>
              </a:spcAft>
            </a:pPr>
            <a:r>
              <a:rPr sz="950" b="1">
                <a:solidFill>
                  <a:srgbClr val="F7C953"/>
                </a:solidFill>
                <a:latin typeface="Aptos"/>
              </a:rPr>
              <a:t>CAPSTONE PROJECT  ?  B.TECH CSE</a:t>
            </a:r>
          </a:p>
        </p:txBody>
      </p:sp>
      <p:sp>
        <p:nvSpPr>
          <p:cNvPr id="9" name="TextBox 8"/>
          <p:cNvSpPr txBox="1"/>
          <p:nvPr/>
        </p:nvSpPr>
        <p:spPr>
          <a:xfrm>
            <a:off x="749808" y="1938528"/>
            <a:ext cx="6629400" cy="1078992"/>
          </a:xfrm>
          <a:prstGeom prst="rect">
            <a:avLst/>
          </a:prstGeom>
          <a:noFill/>
        </p:spPr>
        <p:txBody>
          <a:bodyPr wrap="square" lIns="27432" rIns="27432" tIns="27432" bIns="27432" anchor="t">
            <a:spAutoFit/>
          </a:bodyPr>
          <a:lstStyle/>
          <a:p>
            <a:pPr algn="l">
              <a:spcAft>
                <a:spcPts val="200"/>
              </a:spcAft>
            </a:pPr>
            <a:r>
              <a:rPr sz="2800" b="1">
                <a:solidFill>
                  <a:srgbClr val="F1F9F4"/>
                </a:solidFill>
                <a:latin typeface="Aptos"/>
              </a:rPr>
              <a:t>AI-powered agriculture</a:t>
            </a:r>
          </a:p>
          <a:p>
            <a:pPr algn="l">
              <a:spcAft>
                <a:spcPts val="200"/>
              </a:spcAft>
            </a:pPr>
            <a:r>
              <a:rPr sz="2800" b="1">
                <a:solidFill>
                  <a:srgbClr val="F1F9F4"/>
                </a:solidFill>
                <a:latin typeface="Aptos"/>
              </a:rPr>
              <a:t>crop advisory assistant</a:t>
            </a:r>
          </a:p>
        </p:txBody>
      </p:sp>
      <p:sp>
        <p:nvSpPr>
          <p:cNvPr id="10" name="TextBox 9"/>
          <p:cNvSpPr txBox="1"/>
          <p:nvPr/>
        </p:nvSpPr>
        <p:spPr>
          <a:xfrm>
            <a:off x="768096" y="3236976"/>
            <a:ext cx="6309360" cy="566928"/>
          </a:xfrm>
          <a:prstGeom prst="rect">
            <a:avLst/>
          </a:prstGeom>
          <a:noFill/>
        </p:spPr>
        <p:txBody>
          <a:bodyPr wrap="square" lIns="27432" rIns="27432" tIns="27432" bIns="27432" anchor="t">
            <a:spAutoFit/>
          </a:bodyPr>
          <a:lstStyle/>
          <a:p>
            <a:pPr algn="l">
              <a:spcAft>
                <a:spcPts val="200"/>
              </a:spcAft>
            </a:pPr>
            <a:r>
              <a:rPr sz="1500" b="0">
                <a:solidFill>
                  <a:srgbClr val="B2CDBE"/>
                </a:solidFill>
                <a:latin typeface="Aptos"/>
              </a:rPr>
              <a:t>Evidence-grounded case retrieval, crop recommendations and Random Forest yield estimates.</a:t>
            </a:r>
          </a:p>
        </p:txBody>
      </p:sp>
      <p:cxnSp>
        <p:nvCxnSpPr>
          <p:cNvPr id="11" name="Connector 10"/>
          <p:cNvCxnSpPr/>
          <p:nvPr/>
        </p:nvCxnSpPr>
        <p:spPr>
          <a:xfrm flipV="1">
            <a:off x="9345168" y="2331720"/>
            <a:ext cx="0" cy="2194560"/>
          </a:xfrm>
          <a:prstGeom prst="line">
            <a:avLst/>
          </a:prstGeom>
          <a:ln w="38100">
            <a:solidFill>
              <a:srgbClr val="23D38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rot="19800000">
            <a:off x="8275320" y="2587752"/>
            <a:ext cx="1371600" cy="530352"/>
          </a:xfrm>
          <a:prstGeom prst="ellipse">
            <a:avLst/>
          </a:prstGeom>
          <a:solidFill>
            <a:srgbClr val="18B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rot="1500000">
            <a:off x="9308592" y="3044952"/>
            <a:ext cx="1371600" cy="530352"/>
          </a:xfrm>
          <a:prstGeom prst="ellipse">
            <a:avLst/>
          </a:prstGeom>
          <a:solidFill>
            <a:srgbClr val="23D3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rot="20100000">
            <a:off x="8247888" y="3493008"/>
            <a:ext cx="1261872" cy="493776"/>
          </a:xfrm>
          <a:prstGeom prst="ellipse">
            <a:avLst/>
          </a:prstGeom>
          <a:solidFill>
            <a:srgbClr val="1F9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4828032"/>
            <a:ext cx="2084831"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4837176"/>
            <a:ext cx="1938527" cy="274320"/>
          </a:xfrm>
          <a:prstGeom prst="rect">
            <a:avLst/>
          </a:prstGeom>
          <a:noFill/>
        </p:spPr>
        <p:txBody>
          <a:bodyPr wrap="square" lIns="9144" rIns="9144" tIns="9144" bIns="9144" anchor="ctr">
            <a:spAutoFit/>
          </a:bodyPr>
          <a:lstStyle/>
          <a:p>
            <a:pPr algn="ctr">
              <a:spcAft>
                <a:spcPts val="200"/>
              </a:spcAft>
            </a:pPr>
            <a:r>
              <a:rPr sz="950" b="1">
                <a:solidFill>
                  <a:srgbClr val="23D385"/>
                </a:solidFill>
                <a:latin typeface="Aptos"/>
              </a:rPr>
              <a:t>HYBRID CASE SEARCH</a:t>
            </a:r>
          </a:p>
        </p:txBody>
      </p:sp>
      <p:sp>
        <p:nvSpPr>
          <p:cNvPr id="17" name="Rounded Rectangle 16"/>
          <p:cNvSpPr/>
          <p:nvPr/>
        </p:nvSpPr>
        <p:spPr>
          <a:xfrm>
            <a:off x="3017520" y="4828032"/>
            <a:ext cx="2084831"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90672" y="4837176"/>
            <a:ext cx="1938527" cy="274320"/>
          </a:xfrm>
          <a:prstGeom prst="rect">
            <a:avLst/>
          </a:prstGeom>
          <a:noFill/>
        </p:spPr>
        <p:txBody>
          <a:bodyPr wrap="square" lIns="9144" rIns="9144" tIns="9144" bIns="9144" anchor="ctr">
            <a:spAutoFit/>
          </a:bodyPr>
          <a:lstStyle/>
          <a:p>
            <a:pPr algn="ctr">
              <a:spcAft>
                <a:spcPts val="200"/>
              </a:spcAft>
            </a:pPr>
            <a:r>
              <a:rPr sz="950" b="1">
                <a:solidFill>
                  <a:srgbClr val="23D385"/>
                </a:solidFill>
                <a:latin typeface="Aptos"/>
              </a:rPr>
              <a:t>AGRONOMIC ADVISORY</a:t>
            </a:r>
          </a:p>
        </p:txBody>
      </p:sp>
      <p:sp>
        <p:nvSpPr>
          <p:cNvPr id="19" name="Rounded Rectangle 18"/>
          <p:cNvSpPr/>
          <p:nvPr/>
        </p:nvSpPr>
        <p:spPr>
          <a:xfrm>
            <a:off x="5266944" y="4828032"/>
            <a:ext cx="1993392"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40096" y="4837176"/>
            <a:ext cx="1847088" cy="274320"/>
          </a:xfrm>
          <a:prstGeom prst="rect">
            <a:avLst/>
          </a:prstGeom>
          <a:noFill/>
        </p:spPr>
        <p:txBody>
          <a:bodyPr wrap="square" lIns="9144" rIns="9144" tIns="9144" bIns="9144" anchor="ctr">
            <a:spAutoFit/>
          </a:bodyPr>
          <a:lstStyle/>
          <a:p>
            <a:pPr algn="ctr">
              <a:spcAft>
                <a:spcPts val="200"/>
              </a:spcAft>
            </a:pPr>
            <a:r>
              <a:rPr sz="950" b="1">
                <a:solidFill>
                  <a:srgbClr val="23D385"/>
                </a:solidFill>
                <a:latin typeface="Aptos"/>
              </a:rPr>
              <a:t>YIELD ML</a:t>
            </a:r>
          </a:p>
        </p:txBody>
      </p:sp>
      <p:sp>
        <p:nvSpPr>
          <p:cNvPr id="21" name="TextBox 20"/>
          <p:cNvSpPr txBox="1"/>
          <p:nvPr/>
        </p:nvSpPr>
        <p:spPr>
          <a:xfrm>
            <a:off x="777240" y="5413248"/>
            <a:ext cx="7040880" cy="365760"/>
          </a:xfrm>
          <a:prstGeom prst="rect">
            <a:avLst/>
          </a:prstGeom>
          <a:noFill/>
        </p:spPr>
        <p:txBody>
          <a:bodyPr wrap="square" lIns="27432" rIns="27432" tIns="27432" bIns="27432" anchor="t">
            <a:spAutoFit/>
          </a:bodyPr>
          <a:lstStyle/>
          <a:p>
            <a:pPr algn="l">
              <a:spcAft>
                <a:spcPts val="200"/>
              </a:spcAft>
            </a:pPr>
            <a:r>
              <a:rPr sz="1050" b="0">
                <a:solidFill>
                  <a:srgbClr val="F7C953"/>
                </a:solidFill>
                <a:latin typeface="Aptos"/>
              </a:rPr>
              <a:t>Prototype results use locally generated synthetic test records; not field-validated.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Problem and users</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02</a:t>
            </a:r>
          </a:p>
        </p:txBody>
      </p:sp>
      <p:sp>
        <p:nvSpPr>
          <p:cNvPr id="7" name="Rounded Rectangle 6"/>
          <p:cNvSpPr/>
          <p:nvPr/>
        </p:nvSpPr>
        <p:spPr>
          <a:xfrm>
            <a:off x="749808" y="1481328"/>
            <a:ext cx="5239512" cy="12618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581912"/>
            <a:ext cx="4946904"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MANY CONDITIONS, ONE DECISION</a:t>
            </a:r>
          </a:p>
        </p:txBody>
      </p:sp>
      <p:sp>
        <p:nvSpPr>
          <p:cNvPr id="9" name="TextBox 8"/>
          <p:cNvSpPr txBox="1"/>
          <p:nvPr/>
        </p:nvSpPr>
        <p:spPr>
          <a:xfrm>
            <a:off x="896112" y="1929384"/>
            <a:ext cx="4946904" cy="749807"/>
          </a:xfrm>
          <a:prstGeom prst="rect">
            <a:avLst/>
          </a:prstGeom>
          <a:noFill/>
        </p:spPr>
        <p:txBody>
          <a:bodyPr wrap="square" lIns="27432" rIns="27432" tIns="27432" bIns="27432" anchor="t">
            <a:spAutoFit/>
          </a:bodyPr>
          <a:lstStyle/>
          <a:p>
            <a:pPr algn="l">
              <a:spcAft>
                <a:spcPts val="200"/>
              </a:spcAft>
            </a:pPr>
            <a:r>
              <a:rPr sz="1200" b="0">
                <a:solidFill>
                  <a:srgbClr val="F1F9F4"/>
                </a:solidFill>
                <a:latin typeface="Aptos"/>
              </a:rPr>
              <a:t>Crop, region, season, soil chemistry, rainfall and farm inputs interact.</a:t>
            </a:r>
          </a:p>
        </p:txBody>
      </p:sp>
      <p:sp>
        <p:nvSpPr>
          <p:cNvPr id="10" name="Rounded Rectangle 9"/>
          <p:cNvSpPr/>
          <p:nvPr/>
        </p:nvSpPr>
        <p:spPr>
          <a:xfrm>
            <a:off x="6199632" y="1481328"/>
            <a:ext cx="5230368" cy="12618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936" y="1581912"/>
            <a:ext cx="4937759"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HISTORICAL EVIDENCE IS HARD TO SEARCH</a:t>
            </a:r>
          </a:p>
        </p:txBody>
      </p:sp>
      <p:sp>
        <p:nvSpPr>
          <p:cNvPr id="12" name="TextBox 11"/>
          <p:cNvSpPr txBox="1"/>
          <p:nvPr/>
        </p:nvSpPr>
        <p:spPr>
          <a:xfrm>
            <a:off x="6345936" y="1929384"/>
            <a:ext cx="4937759" cy="749807"/>
          </a:xfrm>
          <a:prstGeom prst="rect">
            <a:avLst/>
          </a:prstGeom>
          <a:noFill/>
        </p:spPr>
        <p:txBody>
          <a:bodyPr wrap="square" lIns="27432" rIns="27432" tIns="27432" bIns="27432" anchor="t">
            <a:spAutoFit/>
          </a:bodyPr>
          <a:lstStyle/>
          <a:p>
            <a:pPr algn="l">
              <a:spcAft>
                <a:spcPts val="200"/>
              </a:spcAft>
            </a:pPr>
            <a:r>
              <a:rPr sz="1200" b="0">
                <a:solidFill>
                  <a:srgbClr val="F1F9F4"/>
                </a:solidFill>
                <a:latin typeface="Aptos"/>
              </a:rPr>
              <a:t>A useful precedent must match more than a crop name; cases need comparable context.</a:t>
            </a:r>
          </a:p>
        </p:txBody>
      </p:sp>
      <p:sp>
        <p:nvSpPr>
          <p:cNvPr id="13" name="Rounded Rectangle 12"/>
          <p:cNvSpPr/>
          <p:nvPr/>
        </p:nvSpPr>
        <p:spPr>
          <a:xfrm>
            <a:off x="749808" y="2926080"/>
            <a:ext cx="5239512" cy="12618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026664"/>
            <a:ext cx="4946904"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MANUAL COMPARISON TAKES TIME</a:t>
            </a:r>
          </a:p>
        </p:txBody>
      </p:sp>
      <p:sp>
        <p:nvSpPr>
          <p:cNvPr id="15" name="TextBox 14"/>
          <p:cNvSpPr txBox="1"/>
          <p:nvPr/>
        </p:nvSpPr>
        <p:spPr>
          <a:xfrm>
            <a:off x="896112" y="3374136"/>
            <a:ext cx="4946904" cy="749807"/>
          </a:xfrm>
          <a:prstGeom prst="rect">
            <a:avLst/>
          </a:prstGeom>
          <a:noFill/>
        </p:spPr>
        <p:txBody>
          <a:bodyPr wrap="square" lIns="27432" rIns="27432" tIns="27432" bIns="27432" anchor="t">
            <a:spAutoFit/>
          </a:bodyPr>
          <a:lstStyle/>
          <a:p>
            <a:pPr algn="l">
              <a:spcAft>
                <a:spcPts val="200"/>
              </a:spcAft>
            </a:pPr>
            <a:r>
              <a:rPr sz="1200" b="0">
                <a:solidFill>
                  <a:srgbClr val="F1F9F4"/>
                </a:solidFill>
                <a:latin typeface="Aptos"/>
              </a:rPr>
              <a:t>Professionals may need to scan records and compare yields, practices and conditions.</a:t>
            </a:r>
          </a:p>
        </p:txBody>
      </p:sp>
      <p:sp>
        <p:nvSpPr>
          <p:cNvPr id="16" name="Rounded Rectangle 15"/>
          <p:cNvSpPr/>
          <p:nvPr/>
        </p:nvSpPr>
        <p:spPr>
          <a:xfrm>
            <a:off x="6199632" y="2926080"/>
            <a:ext cx="5230368" cy="12618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3026664"/>
            <a:ext cx="4937759"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ADVICE NEEDS CLEAR LIMITS</a:t>
            </a:r>
          </a:p>
        </p:txBody>
      </p:sp>
      <p:sp>
        <p:nvSpPr>
          <p:cNvPr id="18" name="TextBox 17"/>
          <p:cNvSpPr txBox="1"/>
          <p:nvPr/>
        </p:nvSpPr>
        <p:spPr>
          <a:xfrm>
            <a:off x="6345936" y="3374136"/>
            <a:ext cx="4937759" cy="749807"/>
          </a:xfrm>
          <a:prstGeom prst="rect">
            <a:avLst/>
          </a:prstGeom>
          <a:noFill/>
        </p:spPr>
        <p:txBody>
          <a:bodyPr wrap="square" lIns="27432" rIns="27432" tIns="27432" bIns="27432" anchor="t">
            <a:spAutoFit/>
          </a:bodyPr>
          <a:lstStyle/>
          <a:p>
            <a:pPr algn="l">
              <a:spcAft>
                <a:spcPts val="200"/>
              </a:spcAft>
            </a:pPr>
            <a:r>
              <a:rPr sz="1200" b="0">
                <a:solidFill>
                  <a:srgbClr val="F1F9F4"/>
                </a:solidFill>
                <a:latin typeface="Aptos"/>
              </a:rPr>
              <a:t>A ranked case is evidence to review, not proof that an outcome will repeat.</a:t>
            </a:r>
          </a:p>
        </p:txBody>
      </p:sp>
      <p:sp>
        <p:nvSpPr>
          <p:cNvPr id="19" name="Rounded Rectangle 18"/>
          <p:cNvSpPr/>
          <p:nvPr/>
        </p:nvSpPr>
        <p:spPr>
          <a:xfrm>
            <a:off x="749808" y="4498848"/>
            <a:ext cx="10680192" cy="841248"/>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645152"/>
            <a:ext cx="2148840" cy="438912"/>
          </a:xfrm>
          <a:prstGeom prst="rect">
            <a:avLst/>
          </a:prstGeom>
          <a:noFill/>
        </p:spPr>
        <p:txBody>
          <a:bodyPr wrap="square" lIns="27432" rIns="27432" tIns="27432" bIns="27432" anchor="ctr">
            <a:spAutoFit/>
          </a:bodyPr>
          <a:lstStyle/>
          <a:p>
            <a:pPr algn="l">
              <a:spcAft>
                <a:spcPts val="200"/>
              </a:spcAft>
            </a:pPr>
            <a:r>
              <a:rPr sz="1100" b="1">
                <a:solidFill>
                  <a:srgbClr val="23D385"/>
                </a:solidFill>
                <a:latin typeface="Aptos"/>
              </a:rPr>
              <a:t>DESIGNED FOR</a:t>
            </a:r>
          </a:p>
        </p:txBody>
      </p:sp>
      <p:sp>
        <p:nvSpPr>
          <p:cNvPr id="21" name="TextBox 20"/>
          <p:cNvSpPr txBox="1"/>
          <p:nvPr/>
        </p:nvSpPr>
        <p:spPr>
          <a:xfrm>
            <a:off x="2907792" y="4617720"/>
            <a:ext cx="8183879" cy="512064"/>
          </a:xfrm>
          <a:prstGeom prst="rect">
            <a:avLst/>
          </a:prstGeom>
          <a:noFill/>
        </p:spPr>
        <p:txBody>
          <a:bodyPr wrap="square" lIns="27432" rIns="27432" tIns="27432" bIns="27432" anchor="ctr">
            <a:spAutoFit/>
          </a:bodyPr>
          <a:lstStyle/>
          <a:p>
            <a:pPr algn="l">
              <a:spcAft>
                <a:spcPts val="200"/>
              </a:spcAft>
            </a:pPr>
            <a:r>
              <a:rPr sz="1600" b="1">
                <a:solidFill>
                  <a:srgbClr val="F1F9F4"/>
                </a:solidFill>
                <a:latin typeface="Aptos"/>
              </a:rPr>
              <a:t>Agronomists  ?  Extension officers  ?  Agricultural decision-makers</a:t>
            </a:r>
          </a:p>
        </p:txBody>
      </p:sp>
      <p:sp>
        <p:nvSpPr>
          <p:cNvPr id="22" name="TextBox 21"/>
          <p:cNvSpPr txBox="1"/>
          <p:nvPr/>
        </p:nvSpPr>
        <p:spPr>
          <a:xfrm>
            <a:off x="786384" y="5504688"/>
            <a:ext cx="10515600" cy="320040"/>
          </a:xfrm>
          <a:prstGeom prst="rect">
            <a:avLst/>
          </a:prstGeom>
          <a:noFill/>
        </p:spPr>
        <p:txBody>
          <a:bodyPr wrap="square" lIns="27432" rIns="27432" tIns="27432" bIns="27432" anchor="t">
            <a:spAutoFit/>
          </a:bodyPr>
          <a:lstStyle/>
          <a:p>
            <a:pPr algn="l">
              <a:spcAft>
                <a:spcPts val="200"/>
              </a:spcAft>
            </a:pPr>
            <a:r>
              <a:rPr sz="1050" b="0">
                <a:solidFill>
                  <a:srgbClr val="B2CDBE"/>
                </a:solidFill>
                <a:latin typeface="Aptos"/>
              </a:rPr>
              <a:t>The project sample contains 1,500 locally generated records; it is not an external field survey.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Business need</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03</a:t>
            </a:r>
          </a:p>
        </p:txBody>
      </p:sp>
      <p:sp>
        <p:nvSpPr>
          <p:cNvPr id="7" name="TextBox 6"/>
          <p:cNvSpPr txBox="1"/>
          <p:nvPr/>
        </p:nvSpPr>
        <p:spPr>
          <a:xfrm>
            <a:off x="777240" y="1444752"/>
            <a:ext cx="10424160" cy="493776"/>
          </a:xfrm>
          <a:prstGeom prst="rect">
            <a:avLst/>
          </a:prstGeom>
          <a:noFill/>
        </p:spPr>
        <p:txBody>
          <a:bodyPr wrap="square" lIns="27432" rIns="27432" tIns="27432" bIns="27432" anchor="t">
            <a:spAutoFit/>
          </a:bodyPr>
          <a:lstStyle/>
          <a:p>
            <a:pPr algn="l">
              <a:spcAft>
                <a:spcPts val="200"/>
              </a:spcAft>
            </a:pPr>
            <a:r>
              <a:rPr sz="1700" b="1">
                <a:solidFill>
                  <a:srgbClr val="F1F9F4"/>
                </a:solidFill>
                <a:latin typeface="Aptos"/>
              </a:rPr>
              <a:t>A single workspace should connect the questions practitioners already ask.</a:t>
            </a:r>
          </a:p>
        </p:txBody>
      </p:sp>
      <p:sp>
        <p:nvSpPr>
          <p:cNvPr id="8" name="Rounded Rectangle 7"/>
          <p:cNvSpPr/>
          <p:nvPr/>
        </p:nvSpPr>
        <p:spPr>
          <a:xfrm>
            <a:off x="758952" y="2212848"/>
            <a:ext cx="5166360" cy="107899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313432"/>
            <a:ext cx="487375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01  FIND PRECEDENT</a:t>
            </a:r>
          </a:p>
        </p:txBody>
      </p:sp>
      <p:sp>
        <p:nvSpPr>
          <p:cNvPr id="10" name="TextBox 9"/>
          <p:cNvSpPr txBox="1"/>
          <p:nvPr/>
        </p:nvSpPr>
        <p:spPr>
          <a:xfrm>
            <a:off x="905256" y="2660904"/>
            <a:ext cx="4873752" cy="566927"/>
          </a:xfrm>
          <a:prstGeom prst="rect">
            <a:avLst/>
          </a:prstGeom>
          <a:noFill/>
        </p:spPr>
        <p:txBody>
          <a:bodyPr wrap="square" lIns="27432" rIns="27432" tIns="27432" bIns="27432" anchor="t">
            <a:spAutoFit/>
          </a:bodyPr>
          <a:lstStyle/>
          <a:p>
            <a:pPr algn="l">
              <a:spcAft>
                <a:spcPts val="200"/>
              </a:spcAft>
            </a:pPr>
            <a:r>
              <a:rPr sz="1140" b="0">
                <a:solidFill>
                  <a:srgbClr val="F1F9F4"/>
                </a:solidFill>
                <a:latin typeface="Aptos"/>
              </a:rPr>
              <a:t>Search similar cases by crop, region, season and conditions.</a:t>
            </a:r>
          </a:p>
        </p:txBody>
      </p:sp>
      <p:sp>
        <p:nvSpPr>
          <p:cNvPr id="11" name="Rounded Rectangle 10"/>
          <p:cNvSpPr/>
          <p:nvPr/>
        </p:nvSpPr>
        <p:spPr>
          <a:xfrm>
            <a:off x="6199632" y="2212848"/>
            <a:ext cx="5166360" cy="107899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5936" y="2313432"/>
            <a:ext cx="4873752"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02  COMPARE CONTEXT</a:t>
            </a:r>
          </a:p>
        </p:txBody>
      </p:sp>
      <p:sp>
        <p:nvSpPr>
          <p:cNvPr id="13" name="TextBox 12"/>
          <p:cNvSpPr txBox="1"/>
          <p:nvPr/>
        </p:nvSpPr>
        <p:spPr>
          <a:xfrm>
            <a:off x="6345936" y="2660904"/>
            <a:ext cx="4873752" cy="566927"/>
          </a:xfrm>
          <a:prstGeom prst="rect">
            <a:avLst/>
          </a:prstGeom>
          <a:noFill/>
        </p:spPr>
        <p:txBody>
          <a:bodyPr wrap="square" lIns="27432" rIns="27432" tIns="27432" bIns="27432" anchor="t">
            <a:spAutoFit/>
          </a:bodyPr>
          <a:lstStyle/>
          <a:p>
            <a:pPr algn="l">
              <a:spcAft>
                <a:spcPts val="200"/>
              </a:spcAft>
            </a:pPr>
            <a:r>
              <a:rPr sz="1140" b="0">
                <a:solidFill>
                  <a:srgbClr val="F1F9F4"/>
                </a:solidFill>
                <a:latin typeface="Aptos"/>
              </a:rPr>
              <a:t>Inspect soil nutrients, pH, weather, inputs and recorded yield.</a:t>
            </a:r>
          </a:p>
        </p:txBody>
      </p:sp>
      <p:sp>
        <p:nvSpPr>
          <p:cNvPr id="14" name="Rounded Rectangle 13"/>
          <p:cNvSpPr/>
          <p:nvPr/>
        </p:nvSpPr>
        <p:spPr>
          <a:xfrm>
            <a:off x="758952" y="3566160"/>
            <a:ext cx="5166360" cy="107899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256" y="3666744"/>
            <a:ext cx="487375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03  ASSESS OPTIONS</a:t>
            </a:r>
          </a:p>
        </p:txBody>
      </p:sp>
      <p:sp>
        <p:nvSpPr>
          <p:cNvPr id="16" name="TextBox 15"/>
          <p:cNvSpPr txBox="1"/>
          <p:nvPr/>
        </p:nvSpPr>
        <p:spPr>
          <a:xfrm>
            <a:off x="905256" y="4014215"/>
            <a:ext cx="4873752" cy="566927"/>
          </a:xfrm>
          <a:prstGeom prst="rect">
            <a:avLst/>
          </a:prstGeom>
          <a:noFill/>
        </p:spPr>
        <p:txBody>
          <a:bodyPr wrap="square" lIns="27432" rIns="27432" tIns="27432" bIns="27432" anchor="t">
            <a:spAutoFit/>
          </a:bodyPr>
          <a:lstStyle/>
          <a:p>
            <a:pPr algn="l">
              <a:spcAft>
                <a:spcPts val="200"/>
              </a:spcAft>
            </a:pPr>
            <a:r>
              <a:rPr sz="1140" b="0">
                <a:solidFill>
                  <a:srgbClr val="F1F9F4"/>
                </a:solidFill>
                <a:latin typeface="Aptos"/>
              </a:rPr>
              <a:t>Review crop suitability, recommendations and risk factors.</a:t>
            </a:r>
          </a:p>
        </p:txBody>
      </p:sp>
      <p:sp>
        <p:nvSpPr>
          <p:cNvPr id="17" name="Rounded Rectangle 16"/>
          <p:cNvSpPr/>
          <p:nvPr/>
        </p:nvSpPr>
        <p:spPr>
          <a:xfrm>
            <a:off x="6199632" y="3566160"/>
            <a:ext cx="5166360" cy="107899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3666744"/>
            <a:ext cx="487375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04  ESTIMATE OUTCOME</a:t>
            </a:r>
          </a:p>
        </p:txBody>
      </p:sp>
      <p:sp>
        <p:nvSpPr>
          <p:cNvPr id="19" name="TextBox 18"/>
          <p:cNvSpPr txBox="1"/>
          <p:nvPr/>
        </p:nvSpPr>
        <p:spPr>
          <a:xfrm>
            <a:off x="6345936" y="4014215"/>
            <a:ext cx="4873752" cy="566927"/>
          </a:xfrm>
          <a:prstGeom prst="rect">
            <a:avLst/>
          </a:prstGeom>
          <a:noFill/>
        </p:spPr>
        <p:txBody>
          <a:bodyPr wrap="square" lIns="27432" rIns="27432" tIns="27432" bIns="27432" anchor="t">
            <a:spAutoFit/>
          </a:bodyPr>
          <a:lstStyle/>
          <a:p>
            <a:pPr algn="l">
              <a:spcAft>
                <a:spcPts val="200"/>
              </a:spcAft>
            </a:pPr>
            <a:r>
              <a:rPr sz="1140" b="0">
                <a:solidFill>
                  <a:srgbClr val="F1F9F4"/>
                </a:solidFill>
                <a:latin typeface="Aptos"/>
              </a:rPr>
              <a:t>Use the trained yield model for an input-specific estimate and interval.</a:t>
            </a:r>
          </a:p>
        </p:txBody>
      </p:sp>
      <p:sp>
        <p:nvSpPr>
          <p:cNvPr id="20" name="Rounded Rectangle 19"/>
          <p:cNvSpPr/>
          <p:nvPr/>
        </p:nvSpPr>
        <p:spPr>
          <a:xfrm>
            <a:off x="768096" y="5184648"/>
            <a:ext cx="10533888" cy="64008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5294376"/>
            <a:ext cx="10149840" cy="393192"/>
          </a:xfrm>
          <a:prstGeom prst="rect">
            <a:avLst/>
          </a:prstGeom>
          <a:noFill/>
        </p:spPr>
        <p:txBody>
          <a:bodyPr wrap="square" lIns="27432" rIns="27432" tIns="27432" bIns="27432" anchor="ctr">
            <a:spAutoFit/>
          </a:bodyPr>
          <a:lstStyle/>
          <a:p>
            <a:pPr algn="l">
              <a:spcAft>
                <a:spcPts val="200"/>
              </a:spcAft>
            </a:pPr>
            <a:r>
              <a:rPr sz="1300" b="1">
                <a:solidFill>
                  <a:srgbClr val="F1F9F4"/>
                </a:solidFill>
                <a:latin typeface="Aptos"/>
              </a:rPr>
              <a:t>Business value: faster evidence review in one place, with model outputs and limitations visible together.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Solution overview</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04</a:t>
            </a:r>
          </a:p>
        </p:txBody>
      </p:sp>
      <p:sp>
        <p:nvSpPr>
          <p:cNvPr id="7" name="TextBox 6"/>
          <p:cNvSpPr txBox="1"/>
          <p:nvPr/>
        </p:nvSpPr>
        <p:spPr>
          <a:xfrm>
            <a:off x="777240" y="1399032"/>
            <a:ext cx="10515600" cy="493776"/>
          </a:xfrm>
          <a:prstGeom prst="rect">
            <a:avLst/>
          </a:prstGeom>
          <a:noFill/>
        </p:spPr>
        <p:txBody>
          <a:bodyPr wrap="square" lIns="27432" rIns="27432" tIns="27432" bIns="27432" anchor="t">
            <a:spAutoFit/>
          </a:bodyPr>
          <a:lstStyle/>
          <a:p>
            <a:pPr algn="l">
              <a:spcAft>
                <a:spcPts val="200"/>
              </a:spcAft>
            </a:pPr>
            <a:r>
              <a:rPr sz="1600" b="1">
                <a:solidFill>
                  <a:srgbClr val="F1F9F4"/>
                </a:solidFill>
                <a:latin typeface="Aptos"/>
              </a:rPr>
              <a:t>Natural-language question  ?  ranked evidence  ?  structured, reviewable advisory</a:t>
            </a:r>
          </a:p>
        </p:txBody>
      </p:sp>
      <p:sp>
        <p:nvSpPr>
          <p:cNvPr id="8" name="Rounded Rectangle 7"/>
          <p:cNvSpPr/>
          <p:nvPr/>
        </p:nvSpPr>
        <p:spPr>
          <a:xfrm>
            <a:off x="749808" y="2240280"/>
            <a:ext cx="2542032" cy="169164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340864"/>
            <a:ext cx="2249424"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QUERY</a:t>
            </a:r>
          </a:p>
        </p:txBody>
      </p:sp>
      <p:sp>
        <p:nvSpPr>
          <p:cNvPr id="10" name="TextBox 9"/>
          <p:cNvSpPr txBox="1"/>
          <p:nvPr/>
        </p:nvSpPr>
        <p:spPr>
          <a:xfrm>
            <a:off x="896112" y="2688336"/>
            <a:ext cx="2249424" cy="1179576"/>
          </a:xfrm>
          <a:prstGeom prst="rect">
            <a:avLst/>
          </a:prstGeom>
          <a:noFill/>
        </p:spPr>
        <p:txBody>
          <a:bodyPr wrap="square" lIns="27432" rIns="27432" tIns="27432" bIns="27432" anchor="t">
            <a:spAutoFit/>
          </a:bodyPr>
          <a:lstStyle/>
          <a:p>
            <a:pPr algn="l">
              <a:spcAft>
                <a:spcPts val="200"/>
              </a:spcAft>
            </a:pPr>
            <a:r>
              <a:rPr sz="1130" b="0">
                <a:solidFill>
                  <a:srgbClr val="F1F9F4"/>
                </a:solidFill>
                <a:latin typeface="Aptos"/>
              </a:rPr>
              <a:t>Text query plus optional crop, state, season and agronomic inputs.</a:t>
            </a:r>
          </a:p>
        </p:txBody>
      </p:sp>
      <p:sp>
        <p:nvSpPr>
          <p:cNvPr id="11" name="TextBox 10"/>
          <p:cNvSpPr txBox="1"/>
          <p:nvPr/>
        </p:nvSpPr>
        <p:spPr>
          <a:xfrm>
            <a:off x="3319272" y="2770632"/>
            <a:ext cx="219456" cy="320040"/>
          </a:xfrm>
          <a:prstGeom prst="rect">
            <a:avLst/>
          </a:prstGeom>
          <a:noFill/>
        </p:spPr>
        <p:txBody>
          <a:bodyPr wrap="square" lIns="27432" rIns="27432" tIns="27432" bIns="27432" anchor="t">
            <a:spAutoFit/>
          </a:bodyPr>
          <a:lstStyle/>
          <a:p>
            <a:pPr algn="ctr">
              <a:spcAft>
                <a:spcPts val="200"/>
              </a:spcAft>
            </a:pPr>
            <a:r>
              <a:rPr sz="2400" b="1">
                <a:solidFill>
                  <a:srgbClr val="23D385"/>
                </a:solidFill>
                <a:latin typeface="Aptos"/>
              </a:rPr>
              <a:t>?</a:t>
            </a:r>
          </a:p>
        </p:txBody>
      </p:sp>
      <p:sp>
        <p:nvSpPr>
          <p:cNvPr id="12" name="Rounded Rectangle 11"/>
          <p:cNvSpPr/>
          <p:nvPr/>
        </p:nvSpPr>
        <p:spPr>
          <a:xfrm>
            <a:off x="3538727" y="2240280"/>
            <a:ext cx="2542032" cy="169164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85031" y="2340864"/>
            <a:ext cx="2249424"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RETRIEVE</a:t>
            </a:r>
          </a:p>
        </p:txBody>
      </p:sp>
      <p:sp>
        <p:nvSpPr>
          <p:cNvPr id="14" name="TextBox 13"/>
          <p:cNvSpPr txBox="1"/>
          <p:nvPr/>
        </p:nvSpPr>
        <p:spPr>
          <a:xfrm>
            <a:off x="3685031" y="2688336"/>
            <a:ext cx="2249424" cy="1179576"/>
          </a:xfrm>
          <a:prstGeom prst="rect">
            <a:avLst/>
          </a:prstGeom>
          <a:noFill/>
        </p:spPr>
        <p:txBody>
          <a:bodyPr wrap="square" lIns="27432" rIns="27432" tIns="27432" bIns="27432" anchor="t">
            <a:spAutoFit/>
          </a:bodyPr>
          <a:lstStyle/>
          <a:p>
            <a:pPr algn="l">
              <a:spcAft>
                <a:spcPts val="200"/>
              </a:spcAft>
            </a:pPr>
            <a:r>
              <a:rPr sz="1130" b="0">
                <a:solidFill>
                  <a:srgbClr val="F1F9F4"/>
                </a:solidFill>
                <a:latin typeface="Aptos"/>
              </a:rPr>
              <a:t>Dense FAISS + TF-IDF keyword results + metadata fit are merged and reranked.</a:t>
            </a:r>
          </a:p>
        </p:txBody>
      </p:sp>
      <p:sp>
        <p:nvSpPr>
          <p:cNvPr id="15" name="TextBox 14"/>
          <p:cNvSpPr txBox="1"/>
          <p:nvPr/>
        </p:nvSpPr>
        <p:spPr>
          <a:xfrm>
            <a:off x="6108192" y="2770632"/>
            <a:ext cx="219456" cy="320040"/>
          </a:xfrm>
          <a:prstGeom prst="rect">
            <a:avLst/>
          </a:prstGeom>
          <a:noFill/>
        </p:spPr>
        <p:txBody>
          <a:bodyPr wrap="square" lIns="27432" rIns="27432" tIns="27432" bIns="27432" anchor="t">
            <a:spAutoFit/>
          </a:bodyPr>
          <a:lstStyle/>
          <a:p>
            <a:pPr algn="ctr">
              <a:spcAft>
                <a:spcPts val="200"/>
              </a:spcAft>
            </a:pPr>
            <a:r>
              <a:rPr sz="2400" b="1">
                <a:solidFill>
                  <a:srgbClr val="23D385"/>
                </a:solidFill>
                <a:latin typeface="Aptos"/>
              </a:rPr>
              <a:t>?</a:t>
            </a:r>
          </a:p>
        </p:txBody>
      </p:sp>
      <p:sp>
        <p:nvSpPr>
          <p:cNvPr id="16" name="Rounded Rectangle 15"/>
          <p:cNvSpPr/>
          <p:nvPr/>
        </p:nvSpPr>
        <p:spPr>
          <a:xfrm>
            <a:off x="6327648" y="2240280"/>
            <a:ext cx="2542032" cy="169164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2340864"/>
            <a:ext cx="2249424"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ADVISE</a:t>
            </a:r>
          </a:p>
        </p:txBody>
      </p:sp>
      <p:sp>
        <p:nvSpPr>
          <p:cNvPr id="18" name="TextBox 17"/>
          <p:cNvSpPr txBox="1"/>
          <p:nvPr/>
        </p:nvSpPr>
        <p:spPr>
          <a:xfrm>
            <a:off x="6473952" y="2688336"/>
            <a:ext cx="2249424" cy="1179576"/>
          </a:xfrm>
          <a:prstGeom prst="rect">
            <a:avLst/>
          </a:prstGeom>
          <a:noFill/>
        </p:spPr>
        <p:txBody>
          <a:bodyPr wrap="square" lIns="27432" rIns="27432" tIns="27432" bIns="27432" anchor="t">
            <a:spAutoFit/>
          </a:bodyPr>
          <a:lstStyle/>
          <a:p>
            <a:pPr algn="l">
              <a:spcAft>
                <a:spcPts val="200"/>
              </a:spcAft>
            </a:pPr>
            <a:r>
              <a:rPr sz="1130" b="0">
                <a:solidFill>
                  <a:srgbClr val="F1F9F4"/>
                </a:solidFill>
                <a:latin typeface="Aptos"/>
              </a:rPr>
              <a:t>Recommendation, risk, impact and historical evidence are assembled into the response.</a:t>
            </a:r>
          </a:p>
        </p:txBody>
      </p:sp>
      <p:sp>
        <p:nvSpPr>
          <p:cNvPr id="19" name="TextBox 18"/>
          <p:cNvSpPr txBox="1"/>
          <p:nvPr/>
        </p:nvSpPr>
        <p:spPr>
          <a:xfrm>
            <a:off x="8897112" y="2770632"/>
            <a:ext cx="219456" cy="320040"/>
          </a:xfrm>
          <a:prstGeom prst="rect">
            <a:avLst/>
          </a:prstGeom>
          <a:noFill/>
        </p:spPr>
        <p:txBody>
          <a:bodyPr wrap="square" lIns="27432" rIns="27432" tIns="27432" bIns="27432" anchor="t">
            <a:spAutoFit/>
          </a:bodyPr>
          <a:lstStyle/>
          <a:p>
            <a:pPr algn="ctr">
              <a:spcAft>
                <a:spcPts val="200"/>
              </a:spcAft>
            </a:pPr>
            <a:r>
              <a:rPr sz="2400" b="1">
                <a:solidFill>
                  <a:srgbClr val="23D385"/>
                </a:solidFill>
                <a:latin typeface="Aptos"/>
              </a:rPr>
              <a:t>?</a:t>
            </a:r>
          </a:p>
        </p:txBody>
      </p:sp>
      <p:sp>
        <p:nvSpPr>
          <p:cNvPr id="20" name="Rounded Rectangle 19"/>
          <p:cNvSpPr/>
          <p:nvPr/>
        </p:nvSpPr>
        <p:spPr>
          <a:xfrm>
            <a:off x="9116567" y="2240280"/>
            <a:ext cx="2542032" cy="169164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62872" y="2340864"/>
            <a:ext cx="2249424"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PREDICT</a:t>
            </a:r>
          </a:p>
        </p:txBody>
      </p:sp>
      <p:sp>
        <p:nvSpPr>
          <p:cNvPr id="22" name="TextBox 21"/>
          <p:cNvSpPr txBox="1"/>
          <p:nvPr/>
        </p:nvSpPr>
        <p:spPr>
          <a:xfrm>
            <a:off x="9262872" y="2688336"/>
            <a:ext cx="2249424" cy="1179576"/>
          </a:xfrm>
          <a:prstGeom prst="rect">
            <a:avLst/>
          </a:prstGeom>
          <a:noFill/>
        </p:spPr>
        <p:txBody>
          <a:bodyPr wrap="square" lIns="27432" rIns="27432" tIns="27432" bIns="27432" anchor="t">
            <a:spAutoFit/>
          </a:bodyPr>
          <a:lstStyle/>
          <a:p>
            <a:pPr algn="l">
              <a:spcAft>
                <a:spcPts val="200"/>
              </a:spcAft>
            </a:pPr>
            <a:r>
              <a:rPr sz="1130" b="0">
                <a:solidFill>
                  <a:srgbClr val="F1F9F4"/>
                </a:solidFill>
                <a:latin typeface="Aptos"/>
              </a:rPr>
              <a:t>Random Forest models estimate suitability and yield when inputs support it.</a:t>
            </a:r>
          </a:p>
        </p:txBody>
      </p:sp>
      <p:sp>
        <p:nvSpPr>
          <p:cNvPr id="23" name="Rounded Rectangle 22"/>
          <p:cNvSpPr/>
          <p:nvPr/>
        </p:nvSpPr>
        <p:spPr>
          <a:xfrm>
            <a:off x="758952" y="4407408"/>
            <a:ext cx="10799064" cy="960120"/>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6" y="4544568"/>
            <a:ext cx="10387584" cy="292608"/>
          </a:xfrm>
          <a:prstGeom prst="rect">
            <a:avLst/>
          </a:prstGeom>
          <a:noFill/>
        </p:spPr>
        <p:txBody>
          <a:bodyPr wrap="square" lIns="27432" rIns="27432" tIns="27432" bIns="27432" anchor="t">
            <a:spAutoFit/>
          </a:bodyPr>
          <a:lstStyle/>
          <a:p>
            <a:pPr algn="l">
              <a:spcAft>
                <a:spcPts val="200"/>
              </a:spcAft>
            </a:pPr>
            <a:r>
              <a:rPr sz="1000" b="1">
                <a:solidFill>
                  <a:srgbClr val="F7C953"/>
                </a:solidFill>
                <a:latin typeface="Aptos"/>
              </a:rPr>
              <a:t>IMPLEMENTATION NOTE</a:t>
            </a:r>
          </a:p>
        </p:txBody>
      </p:sp>
      <p:sp>
        <p:nvSpPr>
          <p:cNvPr id="25" name="TextBox 24"/>
          <p:cNvSpPr txBox="1"/>
          <p:nvPr/>
        </p:nvSpPr>
        <p:spPr>
          <a:xfrm>
            <a:off x="950976" y="4846320"/>
            <a:ext cx="10332720" cy="411480"/>
          </a:xfrm>
          <a:prstGeom prst="rect">
            <a:avLst/>
          </a:prstGeom>
          <a:noFill/>
        </p:spPr>
        <p:txBody>
          <a:bodyPr wrap="square" lIns="27432" rIns="27432" tIns="27432" bIns="27432" anchor="t">
            <a:spAutoFit/>
          </a:bodyPr>
          <a:lstStyle/>
          <a:p>
            <a:pPr algn="l">
              <a:spcAft>
                <a:spcPts val="200"/>
              </a:spcAft>
            </a:pPr>
            <a:r>
              <a:rPr sz="1130" b="0">
                <a:solidFill>
                  <a:srgbClr val="F1F9F4"/>
                </a:solidFill>
                <a:latin typeface="Aptos"/>
              </a:rPr>
              <a:t>The advisory formatter assembles retrieved evidence and model outputs. An OpenAI-compatible provider is optional for judge evaluation; the answer is not claimed as free-form LLM generation.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Architecture</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05</a:t>
            </a:r>
          </a:p>
        </p:txBody>
      </p:sp>
      <p:sp>
        <p:nvSpPr>
          <p:cNvPr id="7" name="TextBox 6"/>
          <p:cNvSpPr txBox="1"/>
          <p:nvPr/>
        </p:nvSpPr>
        <p:spPr>
          <a:xfrm>
            <a:off x="749808" y="1298448"/>
            <a:ext cx="10607040" cy="320040"/>
          </a:xfrm>
          <a:prstGeom prst="rect">
            <a:avLst/>
          </a:prstGeom>
          <a:noFill/>
        </p:spPr>
        <p:txBody>
          <a:bodyPr wrap="square" lIns="27432" rIns="27432" tIns="27432" bIns="27432" anchor="t">
            <a:spAutoFit/>
          </a:bodyPr>
          <a:lstStyle/>
          <a:p>
            <a:pPr algn="l">
              <a:spcAft>
                <a:spcPts val="200"/>
              </a:spcAft>
            </a:pPr>
            <a:r>
              <a:rPr sz="950" b="1">
                <a:solidFill>
                  <a:srgbClr val="F7C953"/>
                </a:solidFill>
                <a:latin typeface="Aptos"/>
              </a:rPr>
              <a:t>VERIFIED COMPONENTS  ?  CASE-ROW RETRIEVAL (NO DOCUMENT CHUNKING)</a:t>
            </a:r>
          </a:p>
        </p:txBody>
      </p:sp>
      <p:sp>
        <p:nvSpPr>
          <p:cNvPr id="8" name="TextBox 7"/>
          <p:cNvSpPr txBox="1"/>
          <p:nvPr/>
        </p:nvSpPr>
        <p:spPr>
          <a:xfrm>
            <a:off x="768096" y="1664208"/>
            <a:ext cx="1042415" cy="292608"/>
          </a:xfrm>
          <a:prstGeom prst="rect">
            <a:avLst/>
          </a:prstGeom>
          <a:noFill/>
        </p:spPr>
        <p:txBody>
          <a:bodyPr wrap="square" lIns="27432" rIns="27432" tIns="27432" bIns="27432" anchor="t">
            <a:spAutoFit/>
          </a:bodyPr>
          <a:lstStyle/>
          <a:p>
            <a:pPr algn="l">
              <a:spcAft>
                <a:spcPts val="200"/>
              </a:spcAft>
            </a:pPr>
            <a:r>
              <a:rPr sz="950" b="1">
                <a:solidFill>
                  <a:srgbClr val="23D385"/>
                </a:solidFill>
                <a:latin typeface="Aptos"/>
              </a:rPr>
              <a:t>DATA</a:t>
            </a:r>
          </a:p>
        </p:txBody>
      </p:sp>
      <p:sp>
        <p:nvSpPr>
          <p:cNvPr id="9" name="Rounded Rectangle 8"/>
          <p:cNvSpPr/>
          <p:nvPr/>
        </p:nvSpPr>
        <p:spPr>
          <a:xfrm>
            <a:off x="1828800" y="1581912"/>
            <a:ext cx="2029968"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75104" y="1682496"/>
            <a:ext cx="173736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CSV CASES</a:t>
            </a:r>
          </a:p>
        </p:txBody>
      </p:sp>
      <p:sp>
        <p:nvSpPr>
          <p:cNvPr id="11" name="TextBox 10"/>
          <p:cNvSpPr txBox="1"/>
          <p:nvPr/>
        </p:nvSpPr>
        <p:spPr>
          <a:xfrm>
            <a:off x="1975104" y="2029967"/>
            <a:ext cx="1737360" cy="246887"/>
          </a:xfrm>
          <a:prstGeom prst="rect">
            <a:avLst/>
          </a:prstGeom>
          <a:noFill/>
        </p:spPr>
        <p:txBody>
          <a:bodyPr wrap="square" lIns="27432" rIns="27432" tIns="27432" bIns="27432" anchor="t">
            <a:spAutoFit/>
          </a:bodyPr>
          <a:lstStyle/>
          <a:p>
            <a:pPr algn="l">
              <a:spcAft>
                <a:spcPts val="200"/>
              </a:spcAft>
            </a:pPr>
            <a:r>
              <a:rPr sz="1000" b="0">
                <a:solidFill>
                  <a:srgbClr val="F1F9F4"/>
                </a:solidFill>
                <a:latin typeface="Aptos"/>
              </a:rPr>
              <a:t>1,500 synthetic rows</a:t>
            </a:r>
          </a:p>
        </p:txBody>
      </p:sp>
      <p:sp>
        <p:nvSpPr>
          <p:cNvPr id="12" name="Rounded Rectangle 11"/>
          <p:cNvSpPr/>
          <p:nvPr/>
        </p:nvSpPr>
        <p:spPr>
          <a:xfrm>
            <a:off x="4151376" y="1581912"/>
            <a:ext cx="2176272"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682496"/>
            <a:ext cx="1883664"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PREPROCESS</a:t>
            </a:r>
          </a:p>
        </p:txBody>
      </p:sp>
      <p:sp>
        <p:nvSpPr>
          <p:cNvPr id="14" name="TextBox 13"/>
          <p:cNvSpPr txBox="1"/>
          <p:nvPr/>
        </p:nvSpPr>
        <p:spPr>
          <a:xfrm>
            <a:off x="4297680" y="2029967"/>
            <a:ext cx="1883664" cy="246887"/>
          </a:xfrm>
          <a:prstGeom prst="rect">
            <a:avLst/>
          </a:prstGeom>
          <a:noFill/>
        </p:spPr>
        <p:txBody>
          <a:bodyPr wrap="square" lIns="27432" rIns="27432" tIns="27432" bIns="27432" anchor="t">
            <a:spAutoFit/>
          </a:bodyPr>
          <a:lstStyle/>
          <a:p>
            <a:pPr algn="l">
              <a:spcAft>
                <a:spcPts val="200"/>
              </a:spcAft>
            </a:pPr>
            <a:r>
              <a:rPr sz="1000" b="0">
                <a:solidFill>
                  <a:srgbClr val="F1F9F4"/>
                </a:solidFill>
                <a:latin typeface="Aptos"/>
              </a:rPr>
              <a:t>Clean + engineer features</a:t>
            </a:r>
          </a:p>
        </p:txBody>
      </p:sp>
      <p:sp>
        <p:nvSpPr>
          <p:cNvPr id="15" name="Rounded Rectangle 14"/>
          <p:cNvSpPr/>
          <p:nvPr/>
        </p:nvSpPr>
        <p:spPr>
          <a:xfrm>
            <a:off x="6620256" y="1581912"/>
            <a:ext cx="2011680"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1682496"/>
            <a:ext cx="171907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CASE RECORDS</a:t>
            </a:r>
          </a:p>
        </p:txBody>
      </p:sp>
      <p:sp>
        <p:nvSpPr>
          <p:cNvPr id="17" name="TextBox 16"/>
          <p:cNvSpPr txBox="1"/>
          <p:nvPr/>
        </p:nvSpPr>
        <p:spPr>
          <a:xfrm>
            <a:off x="6766560" y="2029967"/>
            <a:ext cx="1719072" cy="246887"/>
          </a:xfrm>
          <a:prstGeom prst="rect">
            <a:avLst/>
          </a:prstGeom>
          <a:noFill/>
        </p:spPr>
        <p:txBody>
          <a:bodyPr wrap="square" lIns="27432" rIns="27432" tIns="27432" bIns="27432" anchor="t">
            <a:spAutoFit/>
          </a:bodyPr>
          <a:lstStyle/>
          <a:p>
            <a:pPr algn="l">
              <a:spcAft>
                <a:spcPts val="200"/>
              </a:spcAft>
            </a:pPr>
            <a:r>
              <a:rPr sz="1000" b="0">
                <a:solidFill>
                  <a:srgbClr val="F1F9F4"/>
                </a:solidFill>
                <a:latin typeface="Aptos"/>
              </a:rPr>
              <a:t>Fields + metadata</a:t>
            </a:r>
          </a:p>
        </p:txBody>
      </p:sp>
      <p:sp>
        <p:nvSpPr>
          <p:cNvPr id="18" name="Rounded Rectangle 17"/>
          <p:cNvSpPr/>
          <p:nvPr/>
        </p:nvSpPr>
        <p:spPr>
          <a:xfrm>
            <a:off x="8924544" y="1581912"/>
            <a:ext cx="2286000"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70848" y="1682496"/>
            <a:ext cx="199339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MODEL FEATURES</a:t>
            </a:r>
          </a:p>
        </p:txBody>
      </p:sp>
      <p:sp>
        <p:nvSpPr>
          <p:cNvPr id="20" name="TextBox 19"/>
          <p:cNvSpPr txBox="1"/>
          <p:nvPr/>
        </p:nvSpPr>
        <p:spPr>
          <a:xfrm>
            <a:off x="9070848" y="2029967"/>
            <a:ext cx="1993392" cy="246887"/>
          </a:xfrm>
          <a:prstGeom prst="rect">
            <a:avLst/>
          </a:prstGeom>
          <a:noFill/>
        </p:spPr>
        <p:txBody>
          <a:bodyPr wrap="square" lIns="27432" rIns="27432" tIns="27432" bIns="27432" anchor="t">
            <a:spAutoFit/>
          </a:bodyPr>
          <a:lstStyle/>
          <a:p>
            <a:pPr algn="l">
              <a:spcAft>
                <a:spcPts val="200"/>
              </a:spcAft>
            </a:pPr>
            <a:r>
              <a:rPr sz="1000" b="0">
                <a:solidFill>
                  <a:srgbClr val="F1F9F4"/>
                </a:solidFill>
                <a:latin typeface="Aptos"/>
              </a:rPr>
              <a:t>Crop / climate / inputs</a:t>
            </a:r>
          </a:p>
        </p:txBody>
      </p:sp>
      <p:sp>
        <p:nvSpPr>
          <p:cNvPr id="21" name="TextBox 20"/>
          <p:cNvSpPr txBox="1"/>
          <p:nvPr/>
        </p:nvSpPr>
        <p:spPr>
          <a:xfrm>
            <a:off x="3886200" y="1792224"/>
            <a:ext cx="228600" cy="274320"/>
          </a:xfrm>
          <a:prstGeom prst="rect">
            <a:avLst/>
          </a:prstGeom>
          <a:noFill/>
        </p:spPr>
        <p:txBody>
          <a:bodyPr wrap="square" lIns="27432" rIns="27432" tIns="27432" bIns="27432" anchor="t">
            <a:spAutoFit/>
          </a:bodyPr>
          <a:lstStyle/>
          <a:p>
            <a:pPr algn="ctr">
              <a:spcAft>
                <a:spcPts val="200"/>
              </a:spcAft>
            </a:pPr>
            <a:r>
              <a:rPr sz="2100" b="1">
                <a:solidFill>
                  <a:srgbClr val="23D385"/>
                </a:solidFill>
                <a:latin typeface="Aptos"/>
              </a:rPr>
              <a:t>?</a:t>
            </a:r>
          </a:p>
        </p:txBody>
      </p:sp>
      <p:sp>
        <p:nvSpPr>
          <p:cNvPr id="22" name="TextBox 21"/>
          <p:cNvSpPr txBox="1"/>
          <p:nvPr/>
        </p:nvSpPr>
        <p:spPr>
          <a:xfrm>
            <a:off x="6364224" y="1792224"/>
            <a:ext cx="228600" cy="274320"/>
          </a:xfrm>
          <a:prstGeom prst="rect">
            <a:avLst/>
          </a:prstGeom>
          <a:noFill/>
        </p:spPr>
        <p:txBody>
          <a:bodyPr wrap="square" lIns="27432" rIns="27432" tIns="27432" bIns="27432" anchor="t">
            <a:spAutoFit/>
          </a:bodyPr>
          <a:lstStyle/>
          <a:p>
            <a:pPr algn="ctr">
              <a:spcAft>
                <a:spcPts val="200"/>
              </a:spcAft>
            </a:pPr>
            <a:r>
              <a:rPr sz="2100" b="1">
                <a:solidFill>
                  <a:srgbClr val="23D385"/>
                </a:solidFill>
                <a:latin typeface="Aptos"/>
              </a:rPr>
              <a:t>?</a:t>
            </a:r>
          </a:p>
        </p:txBody>
      </p:sp>
      <p:sp>
        <p:nvSpPr>
          <p:cNvPr id="23" name="TextBox 22"/>
          <p:cNvSpPr txBox="1"/>
          <p:nvPr/>
        </p:nvSpPr>
        <p:spPr>
          <a:xfrm>
            <a:off x="8668512" y="1792224"/>
            <a:ext cx="228600" cy="274320"/>
          </a:xfrm>
          <a:prstGeom prst="rect">
            <a:avLst/>
          </a:prstGeom>
          <a:noFill/>
        </p:spPr>
        <p:txBody>
          <a:bodyPr wrap="square" lIns="27432" rIns="27432" tIns="27432" bIns="27432" anchor="t">
            <a:spAutoFit/>
          </a:bodyPr>
          <a:lstStyle/>
          <a:p>
            <a:pPr algn="ctr">
              <a:spcAft>
                <a:spcPts val="200"/>
              </a:spcAft>
            </a:pPr>
            <a:r>
              <a:rPr sz="2100" b="1">
                <a:solidFill>
                  <a:srgbClr val="23D385"/>
                </a:solidFill>
                <a:latin typeface="Aptos"/>
              </a:rPr>
              <a:t>?</a:t>
            </a:r>
          </a:p>
        </p:txBody>
      </p:sp>
      <p:sp>
        <p:nvSpPr>
          <p:cNvPr id="24" name="TextBox 23"/>
          <p:cNvSpPr txBox="1"/>
          <p:nvPr/>
        </p:nvSpPr>
        <p:spPr>
          <a:xfrm>
            <a:off x="768096" y="2688336"/>
            <a:ext cx="1042415" cy="292608"/>
          </a:xfrm>
          <a:prstGeom prst="rect">
            <a:avLst/>
          </a:prstGeom>
          <a:noFill/>
        </p:spPr>
        <p:txBody>
          <a:bodyPr wrap="square" lIns="27432" rIns="27432" tIns="27432" bIns="27432" anchor="t">
            <a:spAutoFit/>
          </a:bodyPr>
          <a:lstStyle/>
          <a:p>
            <a:pPr algn="l">
              <a:spcAft>
                <a:spcPts val="200"/>
              </a:spcAft>
            </a:pPr>
            <a:r>
              <a:rPr sz="950" b="1">
                <a:solidFill>
                  <a:srgbClr val="23D385"/>
                </a:solidFill>
                <a:latin typeface="Aptos"/>
              </a:rPr>
              <a:t>REQUEST</a:t>
            </a:r>
          </a:p>
        </p:txBody>
      </p:sp>
      <p:sp>
        <p:nvSpPr>
          <p:cNvPr id="25" name="Rounded Rectangle 24"/>
          <p:cNvSpPr/>
          <p:nvPr/>
        </p:nvSpPr>
        <p:spPr>
          <a:xfrm>
            <a:off x="841248" y="2624328"/>
            <a:ext cx="1947672"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2697480"/>
            <a:ext cx="1837943" cy="576072"/>
          </a:xfrm>
          <a:prstGeom prst="rect">
            <a:avLst/>
          </a:prstGeom>
          <a:noFill/>
        </p:spPr>
        <p:txBody>
          <a:bodyPr wrap="square" lIns="18288" rIns="18288" tIns="18288" bIns="18288" anchor="ctr">
            <a:spAutoFit/>
          </a:bodyPr>
          <a:lstStyle/>
          <a:p>
            <a:pPr algn="ctr">
              <a:spcAft>
                <a:spcPts val="200"/>
              </a:spcAft>
            </a:pPr>
            <a:r>
              <a:rPr sz="1100" b="1">
                <a:solidFill>
                  <a:srgbClr val="F1F9F4"/>
                </a:solidFill>
                <a:latin typeface="Aptos"/>
              </a:rPr>
              <a:t>Browser SPA /</a:t>
            </a:r>
          </a:p>
          <a:p>
            <a:pPr algn="ctr">
              <a:spcAft>
                <a:spcPts val="200"/>
              </a:spcAft>
            </a:pPr>
            <a:r>
              <a:rPr sz="1100" b="1">
                <a:solidFill>
                  <a:srgbClr val="F1F9F4"/>
                </a:solidFill>
                <a:latin typeface="Aptos"/>
              </a:rPr>
              <a:t>Streamlit</a:t>
            </a:r>
          </a:p>
        </p:txBody>
      </p:sp>
      <p:sp>
        <p:nvSpPr>
          <p:cNvPr id="27" name="Rounded Rectangle 26"/>
          <p:cNvSpPr/>
          <p:nvPr/>
        </p:nvSpPr>
        <p:spPr>
          <a:xfrm>
            <a:off x="2962656" y="2624328"/>
            <a:ext cx="1508760"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7520" y="2697480"/>
            <a:ext cx="1399031" cy="576072"/>
          </a:xfrm>
          <a:prstGeom prst="rect">
            <a:avLst/>
          </a:prstGeom>
          <a:noFill/>
        </p:spPr>
        <p:txBody>
          <a:bodyPr wrap="square" lIns="18288" rIns="18288" tIns="18288" bIns="18288" anchor="ctr">
            <a:spAutoFit/>
          </a:bodyPr>
          <a:lstStyle/>
          <a:p>
            <a:pPr algn="ctr">
              <a:spcAft>
                <a:spcPts val="200"/>
              </a:spcAft>
            </a:pPr>
            <a:r>
              <a:rPr sz="1100" b="1">
                <a:solidFill>
                  <a:srgbClr val="F1F9F4"/>
                </a:solidFill>
                <a:latin typeface="Aptos"/>
              </a:rPr>
              <a:t>FastAPI</a:t>
            </a:r>
          </a:p>
          <a:p>
            <a:pPr algn="ctr">
              <a:spcAft>
                <a:spcPts val="200"/>
              </a:spcAft>
            </a:pPr>
            <a:r>
              <a:rPr sz="1100" b="1">
                <a:solidFill>
                  <a:srgbClr val="F1F9F4"/>
                </a:solidFill>
                <a:latin typeface="Aptos"/>
              </a:rPr>
              <a:t>+ Pydantic</a:t>
            </a:r>
          </a:p>
        </p:txBody>
      </p:sp>
      <p:sp>
        <p:nvSpPr>
          <p:cNvPr id="29" name="Rounded Rectangle 28"/>
          <p:cNvSpPr/>
          <p:nvPr/>
        </p:nvSpPr>
        <p:spPr>
          <a:xfrm>
            <a:off x="4636008" y="2624328"/>
            <a:ext cx="1956816"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90872" y="2697480"/>
            <a:ext cx="1847088" cy="576072"/>
          </a:xfrm>
          <a:prstGeom prst="rect">
            <a:avLst/>
          </a:prstGeom>
          <a:noFill/>
        </p:spPr>
        <p:txBody>
          <a:bodyPr wrap="square" lIns="18288" rIns="18288" tIns="18288" bIns="18288" anchor="ctr">
            <a:spAutoFit/>
          </a:bodyPr>
          <a:lstStyle/>
          <a:p>
            <a:pPr algn="ctr">
              <a:spcAft>
                <a:spcPts val="200"/>
              </a:spcAft>
            </a:pPr>
            <a:r>
              <a:rPr sz="1100" b="1">
                <a:solidFill>
                  <a:srgbClr val="F1F9F4"/>
                </a:solidFill>
                <a:latin typeface="Aptos"/>
              </a:rPr>
              <a:t>Guardrails +</a:t>
            </a:r>
          </a:p>
          <a:p>
            <a:pPr algn="ctr">
              <a:spcAft>
                <a:spcPts val="200"/>
              </a:spcAft>
            </a:pPr>
            <a:r>
              <a:rPr sz="1100" b="1">
                <a:solidFill>
                  <a:srgbClr val="F1F9F4"/>
                </a:solidFill>
                <a:latin typeface="Aptos"/>
              </a:rPr>
              <a:t>rule-based classifier</a:t>
            </a:r>
          </a:p>
        </p:txBody>
      </p:sp>
      <p:sp>
        <p:nvSpPr>
          <p:cNvPr id="31" name="Rounded Rectangle 30"/>
          <p:cNvSpPr/>
          <p:nvPr/>
        </p:nvSpPr>
        <p:spPr>
          <a:xfrm>
            <a:off x="6757416" y="2624328"/>
            <a:ext cx="1965960"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12279" y="2697480"/>
            <a:ext cx="1856231" cy="576072"/>
          </a:xfrm>
          <a:prstGeom prst="rect">
            <a:avLst/>
          </a:prstGeom>
          <a:noFill/>
        </p:spPr>
        <p:txBody>
          <a:bodyPr wrap="square" lIns="18288" rIns="18288" tIns="18288" bIns="18288" anchor="ctr">
            <a:spAutoFit/>
          </a:bodyPr>
          <a:lstStyle/>
          <a:p>
            <a:pPr algn="ctr">
              <a:spcAft>
                <a:spcPts val="200"/>
              </a:spcAft>
            </a:pPr>
            <a:r>
              <a:rPr sz="1100" b="1">
                <a:solidFill>
                  <a:srgbClr val="F1F9F4"/>
                </a:solidFill>
                <a:latin typeface="Aptos"/>
              </a:rPr>
              <a:t>Hybrid retrieval</a:t>
            </a:r>
          </a:p>
          <a:p>
            <a:pPr algn="ctr">
              <a:spcAft>
                <a:spcPts val="200"/>
              </a:spcAft>
            </a:pPr>
            <a:r>
              <a:rPr sz="1100" b="1">
                <a:solidFill>
                  <a:srgbClr val="F1F9F4"/>
                </a:solidFill>
                <a:latin typeface="Aptos"/>
              </a:rPr>
              <a:t>request</a:t>
            </a:r>
          </a:p>
        </p:txBody>
      </p:sp>
      <p:sp>
        <p:nvSpPr>
          <p:cNvPr id="33" name="Rounded Rectangle 32"/>
          <p:cNvSpPr/>
          <p:nvPr/>
        </p:nvSpPr>
        <p:spPr>
          <a:xfrm>
            <a:off x="8887968" y="2624328"/>
            <a:ext cx="2295144" cy="75895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42832" y="2697480"/>
            <a:ext cx="2185415" cy="576072"/>
          </a:xfrm>
          <a:prstGeom prst="rect">
            <a:avLst/>
          </a:prstGeom>
          <a:noFill/>
        </p:spPr>
        <p:txBody>
          <a:bodyPr wrap="square" lIns="18288" rIns="18288" tIns="18288" bIns="18288" anchor="ctr">
            <a:spAutoFit/>
          </a:bodyPr>
          <a:lstStyle/>
          <a:p>
            <a:pPr algn="ctr">
              <a:spcAft>
                <a:spcPts val="200"/>
              </a:spcAft>
            </a:pPr>
            <a:r>
              <a:rPr sz="1100" b="1">
                <a:solidFill>
                  <a:srgbClr val="F1F9F4"/>
                </a:solidFill>
                <a:latin typeface="Aptos"/>
              </a:rPr>
              <a:t>Ranked top-K</a:t>
            </a:r>
          </a:p>
          <a:p>
            <a:pPr algn="ctr">
              <a:spcAft>
                <a:spcPts val="200"/>
              </a:spcAft>
            </a:pPr>
            <a:r>
              <a:rPr sz="1100" b="1">
                <a:solidFill>
                  <a:srgbClr val="F1F9F4"/>
                </a:solidFill>
                <a:latin typeface="Aptos"/>
              </a:rPr>
              <a:t>case context</a:t>
            </a:r>
          </a:p>
        </p:txBody>
      </p:sp>
      <p:sp>
        <p:nvSpPr>
          <p:cNvPr id="35" name="TextBox 34"/>
          <p:cNvSpPr txBox="1"/>
          <p:nvPr/>
        </p:nvSpPr>
        <p:spPr>
          <a:xfrm>
            <a:off x="2798064" y="2834640"/>
            <a:ext cx="164592" cy="274320"/>
          </a:xfrm>
          <a:prstGeom prst="rect">
            <a:avLst/>
          </a:prstGeom>
          <a:noFill/>
        </p:spPr>
        <p:txBody>
          <a:bodyPr wrap="square" lIns="27432" rIns="27432" tIns="27432" bIns="27432" anchor="t">
            <a:spAutoFit/>
          </a:bodyPr>
          <a:lstStyle/>
          <a:p>
            <a:pPr algn="ctr">
              <a:spcAft>
                <a:spcPts val="200"/>
              </a:spcAft>
            </a:pPr>
            <a:r>
              <a:rPr sz="1800" b="1">
                <a:solidFill>
                  <a:srgbClr val="23D385"/>
                </a:solidFill>
                <a:latin typeface="Aptos"/>
              </a:rPr>
              <a:t>?</a:t>
            </a:r>
          </a:p>
        </p:txBody>
      </p:sp>
      <p:sp>
        <p:nvSpPr>
          <p:cNvPr id="36" name="TextBox 35"/>
          <p:cNvSpPr txBox="1"/>
          <p:nvPr/>
        </p:nvSpPr>
        <p:spPr>
          <a:xfrm>
            <a:off x="4480560" y="2834640"/>
            <a:ext cx="164592" cy="274320"/>
          </a:xfrm>
          <a:prstGeom prst="rect">
            <a:avLst/>
          </a:prstGeom>
          <a:noFill/>
        </p:spPr>
        <p:txBody>
          <a:bodyPr wrap="square" lIns="27432" rIns="27432" tIns="27432" bIns="27432" anchor="t">
            <a:spAutoFit/>
          </a:bodyPr>
          <a:lstStyle/>
          <a:p>
            <a:pPr algn="ctr">
              <a:spcAft>
                <a:spcPts val="200"/>
              </a:spcAft>
            </a:pPr>
            <a:r>
              <a:rPr sz="1800" b="1">
                <a:solidFill>
                  <a:srgbClr val="23D385"/>
                </a:solidFill>
                <a:latin typeface="Aptos"/>
              </a:rPr>
              <a:t>?</a:t>
            </a:r>
          </a:p>
        </p:txBody>
      </p:sp>
      <p:sp>
        <p:nvSpPr>
          <p:cNvPr id="37" name="TextBox 36"/>
          <p:cNvSpPr txBox="1"/>
          <p:nvPr/>
        </p:nvSpPr>
        <p:spPr>
          <a:xfrm>
            <a:off x="6601968" y="2834640"/>
            <a:ext cx="164592" cy="274320"/>
          </a:xfrm>
          <a:prstGeom prst="rect">
            <a:avLst/>
          </a:prstGeom>
          <a:noFill/>
        </p:spPr>
        <p:txBody>
          <a:bodyPr wrap="square" lIns="27432" rIns="27432" tIns="27432" bIns="27432" anchor="t">
            <a:spAutoFit/>
          </a:bodyPr>
          <a:lstStyle/>
          <a:p>
            <a:pPr algn="ctr">
              <a:spcAft>
                <a:spcPts val="200"/>
              </a:spcAft>
            </a:pPr>
            <a:r>
              <a:rPr sz="1800" b="1">
                <a:solidFill>
                  <a:srgbClr val="23D385"/>
                </a:solidFill>
                <a:latin typeface="Aptos"/>
              </a:rPr>
              <a:t>?</a:t>
            </a:r>
          </a:p>
        </p:txBody>
      </p:sp>
      <p:sp>
        <p:nvSpPr>
          <p:cNvPr id="38" name="TextBox 37"/>
          <p:cNvSpPr txBox="1"/>
          <p:nvPr/>
        </p:nvSpPr>
        <p:spPr>
          <a:xfrm>
            <a:off x="8741664" y="2834640"/>
            <a:ext cx="164592" cy="274320"/>
          </a:xfrm>
          <a:prstGeom prst="rect">
            <a:avLst/>
          </a:prstGeom>
          <a:noFill/>
        </p:spPr>
        <p:txBody>
          <a:bodyPr wrap="square" lIns="27432" rIns="27432" tIns="27432" bIns="27432" anchor="t">
            <a:spAutoFit/>
          </a:bodyPr>
          <a:lstStyle/>
          <a:p>
            <a:pPr algn="ctr">
              <a:spcAft>
                <a:spcPts val="200"/>
              </a:spcAft>
            </a:pPr>
            <a:r>
              <a:rPr sz="1800" b="1">
                <a:solidFill>
                  <a:srgbClr val="23D385"/>
                </a:solidFill>
                <a:latin typeface="Aptos"/>
              </a:rPr>
              <a:t>?</a:t>
            </a:r>
          </a:p>
        </p:txBody>
      </p:sp>
      <p:sp>
        <p:nvSpPr>
          <p:cNvPr id="39" name="TextBox 38"/>
          <p:cNvSpPr txBox="1"/>
          <p:nvPr/>
        </p:nvSpPr>
        <p:spPr>
          <a:xfrm>
            <a:off x="768096" y="3685032"/>
            <a:ext cx="1042415" cy="292608"/>
          </a:xfrm>
          <a:prstGeom prst="rect">
            <a:avLst/>
          </a:prstGeom>
          <a:noFill/>
        </p:spPr>
        <p:txBody>
          <a:bodyPr wrap="square" lIns="27432" rIns="27432" tIns="27432" bIns="27432" anchor="t">
            <a:spAutoFit/>
          </a:bodyPr>
          <a:lstStyle/>
          <a:p>
            <a:pPr algn="l">
              <a:spcAft>
                <a:spcPts val="200"/>
              </a:spcAft>
            </a:pPr>
            <a:r>
              <a:rPr sz="950" b="1">
                <a:solidFill>
                  <a:srgbClr val="23D385"/>
                </a:solidFill>
                <a:latin typeface="Aptos"/>
              </a:rPr>
              <a:t>SEARCH</a:t>
            </a:r>
          </a:p>
        </p:txBody>
      </p:sp>
      <p:sp>
        <p:nvSpPr>
          <p:cNvPr id="40" name="Rounded Rectangle 39"/>
          <p:cNvSpPr/>
          <p:nvPr/>
        </p:nvSpPr>
        <p:spPr>
          <a:xfrm>
            <a:off x="1828800" y="3611880"/>
            <a:ext cx="2514600" cy="8046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75104" y="3712464"/>
            <a:ext cx="222199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LOCAL DENSE INDEX</a:t>
            </a:r>
          </a:p>
        </p:txBody>
      </p:sp>
      <p:sp>
        <p:nvSpPr>
          <p:cNvPr id="42" name="TextBox 41"/>
          <p:cNvSpPr txBox="1"/>
          <p:nvPr/>
        </p:nvSpPr>
        <p:spPr>
          <a:xfrm>
            <a:off x="1975104" y="4059936"/>
            <a:ext cx="2221992" cy="292607"/>
          </a:xfrm>
          <a:prstGeom prst="rect">
            <a:avLst/>
          </a:prstGeom>
          <a:noFill/>
        </p:spPr>
        <p:txBody>
          <a:bodyPr wrap="square" lIns="27432" rIns="27432" tIns="27432" bIns="27432" anchor="t">
            <a:spAutoFit/>
          </a:bodyPr>
          <a:lstStyle/>
          <a:p>
            <a:pPr algn="l">
              <a:spcAft>
                <a:spcPts val="200"/>
              </a:spcAft>
            </a:pPr>
            <a:r>
              <a:rPr sz="969" b="0">
                <a:solidFill>
                  <a:srgbClr val="F1F9F4"/>
                </a:solidFill>
                <a:latin typeface="Aptos"/>
              </a:rPr>
              <a:t>HashingVectorizer + seeded projection ? FAISS</a:t>
            </a:r>
          </a:p>
        </p:txBody>
      </p:sp>
      <p:sp>
        <p:nvSpPr>
          <p:cNvPr id="43" name="Rounded Rectangle 42"/>
          <p:cNvSpPr/>
          <p:nvPr/>
        </p:nvSpPr>
        <p:spPr>
          <a:xfrm>
            <a:off x="4617720" y="3611880"/>
            <a:ext cx="2514600" cy="8046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64024" y="3712464"/>
            <a:ext cx="222199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LEXICAL INDEX</a:t>
            </a:r>
          </a:p>
        </p:txBody>
      </p:sp>
      <p:sp>
        <p:nvSpPr>
          <p:cNvPr id="45" name="TextBox 44"/>
          <p:cNvSpPr txBox="1"/>
          <p:nvPr/>
        </p:nvSpPr>
        <p:spPr>
          <a:xfrm>
            <a:off x="4764024" y="4059936"/>
            <a:ext cx="2221992" cy="292607"/>
          </a:xfrm>
          <a:prstGeom prst="rect">
            <a:avLst/>
          </a:prstGeom>
          <a:noFill/>
        </p:spPr>
        <p:txBody>
          <a:bodyPr wrap="square" lIns="27432" rIns="27432" tIns="27432" bIns="27432" anchor="t">
            <a:spAutoFit/>
          </a:bodyPr>
          <a:lstStyle/>
          <a:p>
            <a:pPr algn="l">
              <a:spcAft>
                <a:spcPts val="200"/>
              </a:spcAft>
            </a:pPr>
            <a:r>
              <a:rPr sz="969" b="0">
                <a:solidFill>
                  <a:srgbClr val="F1F9F4"/>
                </a:solidFill>
                <a:latin typeface="Aptos"/>
              </a:rPr>
              <a:t>Scikit-learn TF-IDF + keyword ranking</a:t>
            </a:r>
          </a:p>
        </p:txBody>
      </p:sp>
      <p:sp>
        <p:nvSpPr>
          <p:cNvPr id="46" name="Rounded Rectangle 45"/>
          <p:cNvSpPr/>
          <p:nvPr/>
        </p:nvSpPr>
        <p:spPr>
          <a:xfrm>
            <a:off x="7406640" y="3611880"/>
            <a:ext cx="1828800" cy="8046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52944" y="3712464"/>
            <a:ext cx="153619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METADATA</a:t>
            </a:r>
          </a:p>
        </p:txBody>
      </p:sp>
      <p:sp>
        <p:nvSpPr>
          <p:cNvPr id="48" name="TextBox 47"/>
          <p:cNvSpPr txBox="1"/>
          <p:nvPr/>
        </p:nvSpPr>
        <p:spPr>
          <a:xfrm>
            <a:off x="7552944" y="4059936"/>
            <a:ext cx="1536192" cy="292607"/>
          </a:xfrm>
          <a:prstGeom prst="rect">
            <a:avLst/>
          </a:prstGeom>
          <a:noFill/>
        </p:spPr>
        <p:txBody>
          <a:bodyPr wrap="square" lIns="27432" rIns="27432" tIns="27432" bIns="27432" anchor="t">
            <a:spAutoFit/>
          </a:bodyPr>
          <a:lstStyle/>
          <a:p>
            <a:pPr algn="l">
              <a:spcAft>
                <a:spcPts val="200"/>
              </a:spcAft>
            </a:pPr>
            <a:r>
              <a:rPr sz="950" b="0">
                <a:solidFill>
                  <a:srgbClr val="F1F9F4"/>
                </a:solidFill>
                <a:latin typeface="Aptos"/>
              </a:rPr>
              <a:t>Crop / state / season fit</a:t>
            </a:r>
          </a:p>
        </p:txBody>
      </p:sp>
      <p:sp>
        <p:nvSpPr>
          <p:cNvPr id="49" name="Rounded Rectangle 48"/>
          <p:cNvSpPr/>
          <p:nvPr/>
        </p:nvSpPr>
        <p:spPr>
          <a:xfrm>
            <a:off x="9473184" y="3611880"/>
            <a:ext cx="1709928" cy="80467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19488" y="3712464"/>
            <a:ext cx="1417320"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HYBRID RERANK</a:t>
            </a:r>
          </a:p>
        </p:txBody>
      </p:sp>
      <p:sp>
        <p:nvSpPr>
          <p:cNvPr id="51" name="TextBox 50"/>
          <p:cNvSpPr txBox="1"/>
          <p:nvPr/>
        </p:nvSpPr>
        <p:spPr>
          <a:xfrm>
            <a:off x="9619488" y="4059936"/>
            <a:ext cx="1417320" cy="292607"/>
          </a:xfrm>
          <a:prstGeom prst="rect">
            <a:avLst/>
          </a:prstGeom>
          <a:noFill/>
        </p:spPr>
        <p:txBody>
          <a:bodyPr wrap="square" lIns="27432" rIns="27432" tIns="27432" bIns="27432" anchor="t">
            <a:spAutoFit/>
          </a:bodyPr>
          <a:lstStyle/>
          <a:p>
            <a:pPr algn="l">
              <a:spcAft>
                <a:spcPts val="200"/>
              </a:spcAft>
            </a:pPr>
            <a:r>
              <a:rPr sz="950" b="0">
                <a:solidFill>
                  <a:srgbClr val="F1F9F4"/>
                </a:solidFill>
                <a:latin typeface="Aptos"/>
              </a:rPr>
              <a:t>Weighted score + top-K</a:t>
            </a:r>
          </a:p>
        </p:txBody>
      </p:sp>
      <p:sp>
        <p:nvSpPr>
          <p:cNvPr id="52" name="TextBox 51"/>
          <p:cNvSpPr txBox="1"/>
          <p:nvPr/>
        </p:nvSpPr>
        <p:spPr>
          <a:xfrm>
            <a:off x="768096" y="4690872"/>
            <a:ext cx="1042415" cy="292608"/>
          </a:xfrm>
          <a:prstGeom prst="rect">
            <a:avLst/>
          </a:prstGeom>
          <a:noFill/>
        </p:spPr>
        <p:txBody>
          <a:bodyPr wrap="square" lIns="27432" rIns="27432" tIns="27432" bIns="27432" anchor="t">
            <a:spAutoFit/>
          </a:bodyPr>
          <a:lstStyle/>
          <a:p>
            <a:pPr algn="l">
              <a:spcAft>
                <a:spcPts val="200"/>
              </a:spcAft>
            </a:pPr>
            <a:r>
              <a:rPr sz="950" b="1">
                <a:solidFill>
                  <a:srgbClr val="23D385"/>
                </a:solidFill>
                <a:latin typeface="Aptos"/>
              </a:rPr>
              <a:t>RESPONSE</a:t>
            </a:r>
          </a:p>
        </p:txBody>
      </p:sp>
      <p:sp>
        <p:nvSpPr>
          <p:cNvPr id="53" name="Rounded Rectangle 52"/>
          <p:cNvSpPr/>
          <p:nvPr/>
        </p:nvSpPr>
        <p:spPr>
          <a:xfrm>
            <a:off x="1143000" y="4626864"/>
            <a:ext cx="2468880" cy="813816"/>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89304" y="4727448"/>
            <a:ext cx="217627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ADVISORY MODULES</a:t>
            </a:r>
          </a:p>
        </p:txBody>
      </p:sp>
      <p:sp>
        <p:nvSpPr>
          <p:cNvPr id="55" name="TextBox 54"/>
          <p:cNvSpPr txBox="1"/>
          <p:nvPr/>
        </p:nvSpPr>
        <p:spPr>
          <a:xfrm>
            <a:off x="1289304" y="5074920"/>
            <a:ext cx="2176272" cy="301751"/>
          </a:xfrm>
          <a:prstGeom prst="rect">
            <a:avLst/>
          </a:prstGeom>
          <a:noFill/>
        </p:spPr>
        <p:txBody>
          <a:bodyPr wrap="square" lIns="27432" rIns="27432" tIns="27432" bIns="27432" anchor="t">
            <a:spAutoFit/>
          </a:bodyPr>
          <a:lstStyle/>
          <a:p>
            <a:pPr algn="l">
              <a:spcAft>
                <a:spcPts val="200"/>
              </a:spcAft>
            </a:pPr>
            <a:r>
              <a:rPr sz="960" b="0">
                <a:solidFill>
                  <a:srgbClr val="F1F9F4"/>
                </a:solidFill>
                <a:latin typeface="Aptos"/>
              </a:rPr>
              <a:t>Recommendation ? risk ? impact</a:t>
            </a:r>
          </a:p>
        </p:txBody>
      </p:sp>
      <p:sp>
        <p:nvSpPr>
          <p:cNvPr id="56" name="Rounded Rectangle 55"/>
          <p:cNvSpPr/>
          <p:nvPr/>
        </p:nvSpPr>
        <p:spPr>
          <a:xfrm>
            <a:off x="3840480" y="4626864"/>
            <a:ext cx="2423160" cy="813816"/>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986784" y="4727448"/>
            <a:ext cx="213055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SCIKIT-LEARN ML</a:t>
            </a:r>
          </a:p>
        </p:txBody>
      </p:sp>
      <p:sp>
        <p:nvSpPr>
          <p:cNvPr id="58" name="TextBox 57"/>
          <p:cNvSpPr txBox="1"/>
          <p:nvPr/>
        </p:nvSpPr>
        <p:spPr>
          <a:xfrm>
            <a:off x="3986784" y="5074920"/>
            <a:ext cx="2130552" cy="301751"/>
          </a:xfrm>
          <a:prstGeom prst="rect">
            <a:avLst/>
          </a:prstGeom>
          <a:noFill/>
        </p:spPr>
        <p:txBody>
          <a:bodyPr wrap="square" lIns="27432" rIns="27432" tIns="27432" bIns="27432" anchor="t">
            <a:spAutoFit/>
          </a:bodyPr>
          <a:lstStyle/>
          <a:p>
            <a:pPr algn="l">
              <a:spcAft>
                <a:spcPts val="200"/>
              </a:spcAft>
            </a:pPr>
            <a:r>
              <a:rPr sz="950" b="0">
                <a:solidFill>
                  <a:srgbClr val="F1F9F4"/>
                </a:solidFill>
                <a:latin typeface="Aptos"/>
              </a:rPr>
              <a:t>RandomForestClassifier + Regressor</a:t>
            </a:r>
          </a:p>
        </p:txBody>
      </p:sp>
      <p:sp>
        <p:nvSpPr>
          <p:cNvPr id="59" name="Rounded Rectangle 58"/>
          <p:cNvSpPr/>
          <p:nvPr/>
        </p:nvSpPr>
        <p:spPr>
          <a:xfrm>
            <a:off x="6492240" y="4626864"/>
            <a:ext cx="2212848" cy="813816"/>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638544" y="4727448"/>
            <a:ext cx="192024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FINAL ADVISOR</a:t>
            </a:r>
          </a:p>
        </p:txBody>
      </p:sp>
      <p:sp>
        <p:nvSpPr>
          <p:cNvPr id="61" name="TextBox 60"/>
          <p:cNvSpPr txBox="1"/>
          <p:nvPr/>
        </p:nvSpPr>
        <p:spPr>
          <a:xfrm>
            <a:off x="6638544" y="5074920"/>
            <a:ext cx="1920240" cy="301751"/>
          </a:xfrm>
          <a:prstGeom prst="rect">
            <a:avLst/>
          </a:prstGeom>
          <a:noFill/>
        </p:spPr>
        <p:txBody>
          <a:bodyPr wrap="square" lIns="27432" rIns="27432" tIns="27432" bIns="27432" anchor="t">
            <a:spAutoFit/>
          </a:bodyPr>
          <a:lstStyle/>
          <a:p>
            <a:pPr algn="l">
              <a:spcAft>
                <a:spcPts val="200"/>
              </a:spcAft>
            </a:pPr>
            <a:r>
              <a:rPr sz="950" b="0">
                <a:solidFill>
                  <a:srgbClr val="F1F9F4"/>
                </a:solidFill>
                <a:latin typeface="Aptos"/>
              </a:rPr>
              <a:t>Evidence-linked response assembly</a:t>
            </a:r>
          </a:p>
        </p:txBody>
      </p:sp>
      <p:sp>
        <p:nvSpPr>
          <p:cNvPr id="62" name="Rounded Rectangle 61"/>
          <p:cNvSpPr/>
          <p:nvPr/>
        </p:nvSpPr>
        <p:spPr>
          <a:xfrm>
            <a:off x="8942832" y="4626864"/>
            <a:ext cx="2212848" cy="813816"/>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89136" y="4727448"/>
            <a:ext cx="192024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UI + PERSISTENCE</a:t>
            </a:r>
          </a:p>
        </p:txBody>
      </p:sp>
      <p:sp>
        <p:nvSpPr>
          <p:cNvPr id="64" name="TextBox 63"/>
          <p:cNvSpPr txBox="1"/>
          <p:nvPr/>
        </p:nvSpPr>
        <p:spPr>
          <a:xfrm>
            <a:off x="9089136" y="5074920"/>
            <a:ext cx="1920240" cy="301751"/>
          </a:xfrm>
          <a:prstGeom prst="rect">
            <a:avLst/>
          </a:prstGeom>
          <a:noFill/>
        </p:spPr>
        <p:txBody>
          <a:bodyPr wrap="square" lIns="27432" rIns="27432" tIns="27432" bIns="27432" anchor="t">
            <a:spAutoFit/>
          </a:bodyPr>
          <a:lstStyle/>
          <a:p>
            <a:pPr algn="l">
              <a:spcAft>
                <a:spcPts val="200"/>
              </a:spcAft>
            </a:pPr>
            <a:r>
              <a:rPr sz="950" b="0">
                <a:solidFill>
                  <a:srgbClr val="F1F9F4"/>
                </a:solidFill>
                <a:latin typeface="Aptos"/>
              </a:rPr>
              <a:t>HTML/CSS/JS ? SQLite ? JSON</a:t>
            </a:r>
          </a:p>
        </p:txBody>
      </p:sp>
      <p:sp>
        <p:nvSpPr>
          <p:cNvPr id="65" name="Rounded Rectangle 64"/>
          <p:cNvSpPr/>
          <p:nvPr/>
        </p:nvSpPr>
        <p:spPr>
          <a:xfrm>
            <a:off x="841248" y="5641848"/>
            <a:ext cx="10332720" cy="44805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78408" y="5678424"/>
            <a:ext cx="10058400" cy="347472"/>
          </a:xfrm>
          <a:prstGeom prst="rect">
            <a:avLst/>
          </a:prstGeom>
          <a:noFill/>
        </p:spPr>
        <p:txBody>
          <a:bodyPr wrap="square" lIns="27432" rIns="27432" tIns="27432" bIns="27432" anchor="ctr">
            <a:spAutoFit/>
          </a:bodyPr>
          <a:lstStyle/>
          <a:p>
            <a:pPr algn="ctr">
              <a:spcAft>
                <a:spcPts val="200"/>
              </a:spcAft>
            </a:pPr>
            <a:r>
              <a:rPr sz="1000" b="0">
                <a:solidFill>
                  <a:srgbClr val="B2CDBE"/>
                </a:solidFill>
                <a:latin typeface="Aptos"/>
              </a:rPr>
              <a:t>OPTIONAL JUDGE PATH  ?  OpenAI-compatible provider ? LLMJudge / RAGAS / DeepEval  ?  network and credits required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Data flow and retrieval</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06</a:t>
            </a:r>
          </a:p>
        </p:txBody>
      </p:sp>
      <p:sp>
        <p:nvSpPr>
          <p:cNvPr id="7" name="TextBox 6"/>
          <p:cNvSpPr txBox="1"/>
          <p:nvPr/>
        </p:nvSpPr>
        <p:spPr>
          <a:xfrm>
            <a:off x="768096" y="1353312"/>
            <a:ext cx="10515600" cy="384048"/>
          </a:xfrm>
          <a:prstGeom prst="rect">
            <a:avLst/>
          </a:prstGeom>
          <a:noFill/>
        </p:spPr>
        <p:txBody>
          <a:bodyPr wrap="square" lIns="27432" rIns="27432" tIns="27432" bIns="27432" anchor="t">
            <a:spAutoFit/>
          </a:bodyPr>
          <a:lstStyle/>
          <a:p>
            <a:pPr algn="l">
              <a:spcAft>
                <a:spcPts val="200"/>
              </a:spcAft>
            </a:pPr>
            <a:r>
              <a:rPr sz="1600" b="1">
                <a:solidFill>
                  <a:srgbClr val="F1F9F4"/>
                </a:solidFill>
                <a:latin typeface="Aptos"/>
              </a:rPr>
              <a:t>From a user question to evidence and a bounded answer</a:t>
            </a:r>
          </a:p>
        </p:txBody>
      </p:sp>
      <p:sp>
        <p:nvSpPr>
          <p:cNvPr id="8" name="Rounded Rectangle 7"/>
          <p:cNvSpPr/>
          <p:nvPr/>
        </p:nvSpPr>
        <p:spPr>
          <a:xfrm>
            <a:off x="777240" y="2075688"/>
            <a:ext cx="3401568" cy="110642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2176272"/>
            <a:ext cx="310896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1  ASK</a:t>
            </a:r>
          </a:p>
        </p:txBody>
      </p:sp>
      <p:sp>
        <p:nvSpPr>
          <p:cNvPr id="10" name="TextBox 9"/>
          <p:cNvSpPr txBox="1"/>
          <p:nvPr/>
        </p:nvSpPr>
        <p:spPr>
          <a:xfrm>
            <a:off x="923544" y="2523744"/>
            <a:ext cx="3108960" cy="594359"/>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Natural-language query and selected top-K.</a:t>
            </a:r>
          </a:p>
        </p:txBody>
      </p:sp>
      <p:sp>
        <p:nvSpPr>
          <p:cNvPr id="11" name="TextBox 10"/>
          <p:cNvSpPr txBox="1"/>
          <p:nvPr/>
        </p:nvSpPr>
        <p:spPr>
          <a:xfrm>
            <a:off x="4215383" y="2468880"/>
            <a:ext cx="210312" cy="301752"/>
          </a:xfrm>
          <a:prstGeom prst="rect">
            <a:avLst/>
          </a:prstGeom>
          <a:noFill/>
        </p:spPr>
        <p:txBody>
          <a:bodyPr wrap="square" lIns="27432" rIns="27432" tIns="27432" bIns="27432" anchor="t">
            <a:spAutoFit/>
          </a:bodyPr>
          <a:lstStyle/>
          <a:p>
            <a:pPr algn="ctr">
              <a:spcAft>
                <a:spcPts val="200"/>
              </a:spcAft>
            </a:pPr>
            <a:r>
              <a:rPr sz="2100" b="1">
                <a:solidFill>
                  <a:srgbClr val="23D385"/>
                </a:solidFill>
                <a:latin typeface="Aptos"/>
              </a:rPr>
              <a:t>?</a:t>
            </a:r>
          </a:p>
        </p:txBody>
      </p:sp>
      <p:sp>
        <p:nvSpPr>
          <p:cNvPr id="12" name="Rounded Rectangle 11"/>
          <p:cNvSpPr/>
          <p:nvPr/>
        </p:nvSpPr>
        <p:spPr>
          <a:xfrm>
            <a:off x="4489703" y="2075688"/>
            <a:ext cx="3401568" cy="110642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2176272"/>
            <a:ext cx="3108960"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2  VALIDATE</a:t>
            </a:r>
          </a:p>
        </p:txBody>
      </p:sp>
      <p:sp>
        <p:nvSpPr>
          <p:cNvPr id="14" name="TextBox 13"/>
          <p:cNvSpPr txBox="1"/>
          <p:nvPr/>
        </p:nvSpPr>
        <p:spPr>
          <a:xfrm>
            <a:off x="4636007" y="2523744"/>
            <a:ext cx="3108960" cy="594359"/>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Input, scope, injection and agronomic checks.</a:t>
            </a:r>
          </a:p>
        </p:txBody>
      </p:sp>
      <p:sp>
        <p:nvSpPr>
          <p:cNvPr id="15" name="TextBox 14"/>
          <p:cNvSpPr txBox="1"/>
          <p:nvPr/>
        </p:nvSpPr>
        <p:spPr>
          <a:xfrm>
            <a:off x="7927847" y="2468880"/>
            <a:ext cx="210312" cy="301752"/>
          </a:xfrm>
          <a:prstGeom prst="rect">
            <a:avLst/>
          </a:prstGeom>
          <a:noFill/>
        </p:spPr>
        <p:txBody>
          <a:bodyPr wrap="square" lIns="27432" rIns="27432" tIns="27432" bIns="27432" anchor="t">
            <a:spAutoFit/>
          </a:bodyPr>
          <a:lstStyle/>
          <a:p>
            <a:pPr algn="ctr">
              <a:spcAft>
                <a:spcPts val="200"/>
              </a:spcAft>
            </a:pPr>
            <a:r>
              <a:rPr sz="2100" b="1">
                <a:solidFill>
                  <a:srgbClr val="23D385"/>
                </a:solidFill>
                <a:latin typeface="Aptos"/>
              </a:rPr>
              <a:t>?</a:t>
            </a:r>
          </a:p>
        </p:txBody>
      </p:sp>
      <p:sp>
        <p:nvSpPr>
          <p:cNvPr id="16" name="Rounded Rectangle 15"/>
          <p:cNvSpPr/>
          <p:nvPr/>
        </p:nvSpPr>
        <p:spPr>
          <a:xfrm>
            <a:off x="8202167" y="2075688"/>
            <a:ext cx="3401568" cy="110642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8471" y="2176272"/>
            <a:ext cx="310896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3  UNDERSTAND</a:t>
            </a:r>
          </a:p>
        </p:txBody>
      </p:sp>
      <p:sp>
        <p:nvSpPr>
          <p:cNvPr id="18" name="TextBox 17"/>
          <p:cNvSpPr txBox="1"/>
          <p:nvPr/>
        </p:nvSpPr>
        <p:spPr>
          <a:xfrm>
            <a:off x="8348471" y="2523744"/>
            <a:ext cx="3108960" cy="594359"/>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Rule-based intent, crop, location, season and numeric extraction.</a:t>
            </a:r>
          </a:p>
        </p:txBody>
      </p:sp>
      <p:sp>
        <p:nvSpPr>
          <p:cNvPr id="19" name="Rounded Rectangle 18"/>
          <p:cNvSpPr/>
          <p:nvPr/>
        </p:nvSpPr>
        <p:spPr>
          <a:xfrm>
            <a:off x="777240" y="3566160"/>
            <a:ext cx="3401568" cy="110642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666744"/>
            <a:ext cx="310896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4  SEARCH</a:t>
            </a:r>
          </a:p>
        </p:txBody>
      </p:sp>
      <p:sp>
        <p:nvSpPr>
          <p:cNvPr id="21" name="TextBox 20"/>
          <p:cNvSpPr txBox="1"/>
          <p:nvPr/>
        </p:nvSpPr>
        <p:spPr>
          <a:xfrm>
            <a:off x="923544" y="4014215"/>
            <a:ext cx="3108960" cy="594359"/>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Dense + lexical candidates; metadata filters and hybrid scoring.</a:t>
            </a:r>
          </a:p>
        </p:txBody>
      </p:sp>
      <p:sp>
        <p:nvSpPr>
          <p:cNvPr id="22" name="TextBox 21"/>
          <p:cNvSpPr txBox="1"/>
          <p:nvPr/>
        </p:nvSpPr>
        <p:spPr>
          <a:xfrm>
            <a:off x="4215383" y="3959352"/>
            <a:ext cx="210312" cy="301752"/>
          </a:xfrm>
          <a:prstGeom prst="rect">
            <a:avLst/>
          </a:prstGeom>
          <a:noFill/>
        </p:spPr>
        <p:txBody>
          <a:bodyPr wrap="square" lIns="27432" rIns="27432" tIns="27432" bIns="27432" anchor="t">
            <a:spAutoFit/>
          </a:bodyPr>
          <a:lstStyle/>
          <a:p>
            <a:pPr algn="ctr">
              <a:spcAft>
                <a:spcPts val="200"/>
              </a:spcAft>
            </a:pPr>
            <a:r>
              <a:rPr sz="2100" b="1">
                <a:solidFill>
                  <a:srgbClr val="23D385"/>
                </a:solidFill>
                <a:latin typeface="Aptos"/>
              </a:rPr>
              <a:t>?</a:t>
            </a:r>
          </a:p>
        </p:txBody>
      </p:sp>
      <p:sp>
        <p:nvSpPr>
          <p:cNvPr id="23" name="Rounded Rectangle 22"/>
          <p:cNvSpPr/>
          <p:nvPr/>
        </p:nvSpPr>
        <p:spPr>
          <a:xfrm>
            <a:off x="4489703" y="3566160"/>
            <a:ext cx="3401568" cy="110642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36007" y="3666744"/>
            <a:ext cx="310896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5  RERANK</a:t>
            </a:r>
          </a:p>
        </p:txBody>
      </p:sp>
      <p:sp>
        <p:nvSpPr>
          <p:cNvPr id="25" name="TextBox 24"/>
          <p:cNvSpPr txBox="1"/>
          <p:nvPr/>
        </p:nvSpPr>
        <p:spPr>
          <a:xfrm>
            <a:off x="4636007" y="4014215"/>
            <a:ext cx="3108960" cy="594359"/>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Environmental similarity orders the final case rows.</a:t>
            </a:r>
          </a:p>
        </p:txBody>
      </p:sp>
      <p:sp>
        <p:nvSpPr>
          <p:cNvPr id="26" name="TextBox 25"/>
          <p:cNvSpPr txBox="1"/>
          <p:nvPr/>
        </p:nvSpPr>
        <p:spPr>
          <a:xfrm>
            <a:off x="7927847" y="3959352"/>
            <a:ext cx="210312" cy="301752"/>
          </a:xfrm>
          <a:prstGeom prst="rect">
            <a:avLst/>
          </a:prstGeom>
          <a:noFill/>
        </p:spPr>
        <p:txBody>
          <a:bodyPr wrap="square" lIns="27432" rIns="27432" tIns="27432" bIns="27432" anchor="t">
            <a:spAutoFit/>
          </a:bodyPr>
          <a:lstStyle/>
          <a:p>
            <a:pPr algn="ctr">
              <a:spcAft>
                <a:spcPts val="200"/>
              </a:spcAft>
            </a:pPr>
            <a:r>
              <a:rPr sz="2100" b="1">
                <a:solidFill>
                  <a:srgbClr val="23D385"/>
                </a:solidFill>
                <a:latin typeface="Aptos"/>
              </a:rPr>
              <a:t>?</a:t>
            </a:r>
          </a:p>
        </p:txBody>
      </p:sp>
      <p:sp>
        <p:nvSpPr>
          <p:cNvPr id="27" name="Rounded Rectangle 26"/>
          <p:cNvSpPr/>
          <p:nvPr/>
        </p:nvSpPr>
        <p:spPr>
          <a:xfrm>
            <a:off x="8202167" y="3566160"/>
            <a:ext cx="3401568" cy="110642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48471" y="3666744"/>
            <a:ext cx="3108960"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6  RESPOND</a:t>
            </a:r>
          </a:p>
        </p:txBody>
      </p:sp>
      <p:sp>
        <p:nvSpPr>
          <p:cNvPr id="29" name="TextBox 28"/>
          <p:cNvSpPr txBox="1"/>
          <p:nvPr/>
        </p:nvSpPr>
        <p:spPr>
          <a:xfrm>
            <a:off x="8348471" y="4014215"/>
            <a:ext cx="3108960" cy="594359"/>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Advisory modules, ML estimates where applicable, evidence and limits.</a:t>
            </a:r>
          </a:p>
        </p:txBody>
      </p:sp>
      <p:sp>
        <p:nvSpPr>
          <p:cNvPr id="30" name="Rounded Rectangle 29"/>
          <p:cNvSpPr/>
          <p:nvPr/>
        </p:nvSpPr>
        <p:spPr>
          <a:xfrm>
            <a:off x="795528" y="5248656"/>
            <a:ext cx="10716768" cy="640080"/>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 y="5349240"/>
            <a:ext cx="10332720" cy="384048"/>
          </a:xfrm>
          <a:prstGeom prst="rect">
            <a:avLst/>
          </a:prstGeom>
          <a:noFill/>
        </p:spPr>
        <p:txBody>
          <a:bodyPr wrap="square" lIns="27432" rIns="27432" tIns="27432" bIns="27432" anchor="ctr">
            <a:spAutoFit/>
          </a:bodyPr>
          <a:lstStyle/>
          <a:p>
            <a:pPr algn="l">
              <a:spcAft>
                <a:spcPts val="200"/>
              </a:spcAft>
            </a:pPr>
            <a:r>
              <a:rPr sz="1200" b="1">
                <a:solidFill>
                  <a:srgbClr val="F1F9F4"/>
                </a:solidFill>
                <a:latin typeface="Aptos"/>
              </a:rPr>
              <a:t>LLM evaluation is separate; if its provider is unavailable, retrieval scores remain independent and valid.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Technology stack</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07</a:t>
            </a:r>
          </a:p>
        </p:txBody>
      </p:sp>
      <p:sp>
        <p:nvSpPr>
          <p:cNvPr id="7" name="Rounded Rectangle 6"/>
          <p:cNvSpPr/>
          <p:nvPr/>
        </p:nvSpPr>
        <p:spPr>
          <a:xfrm>
            <a:off x="786384" y="1737360"/>
            <a:ext cx="3438144" cy="224028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837943"/>
            <a:ext cx="3145536"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APP + UI</a:t>
            </a:r>
          </a:p>
        </p:txBody>
      </p:sp>
      <p:sp>
        <p:nvSpPr>
          <p:cNvPr id="9" name="TextBox 8"/>
          <p:cNvSpPr txBox="1"/>
          <p:nvPr/>
        </p:nvSpPr>
        <p:spPr>
          <a:xfrm>
            <a:off x="932688" y="2185415"/>
            <a:ext cx="3145536" cy="1728216"/>
          </a:xfrm>
          <a:prstGeom prst="rect">
            <a:avLst/>
          </a:prstGeom>
          <a:noFill/>
        </p:spPr>
        <p:txBody>
          <a:bodyPr wrap="square" lIns="27432" rIns="27432" tIns="27432" bIns="27432" anchor="t">
            <a:spAutoFit/>
          </a:bodyPr>
          <a:lstStyle/>
          <a:p>
            <a:pPr algn="l">
              <a:spcAft>
                <a:spcPts val="200"/>
              </a:spcAft>
            </a:pPr>
            <a:r>
              <a:rPr sz="1210" b="0">
                <a:solidFill>
                  <a:srgbClr val="F1F9F4"/>
                </a:solidFill>
                <a:latin typeface="Aptos"/>
              </a:rPr>
              <a:t>Python 3</a:t>
            </a:r>
          </a:p>
          <a:p>
            <a:pPr algn="l">
              <a:spcAft>
                <a:spcPts val="200"/>
              </a:spcAft>
            </a:pPr>
            <a:r>
              <a:rPr sz="1210" b="0">
                <a:solidFill>
                  <a:srgbClr val="F1F9F4"/>
                </a:solidFill>
                <a:latin typeface="Aptos"/>
              </a:rPr>
              <a:t>FastAPI ? Pydantic ? Uvicorn</a:t>
            </a:r>
          </a:p>
          <a:p>
            <a:pPr algn="l">
              <a:spcAft>
                <a:spcPts val="200"/>
              </a:spcAft>
            </a:pPr>
            <a:r>
              <a:rPr sz="1210" b="0">
                <a:solidFill>
                  <a:srgbClr val="F1F9F4"/>
                </a:solidFill>
                <a:latin typeface="Aptos"/>
              </a:rPr>
              <a:t>HTML ? CSS ? JavaScript SPA</a:t>
            </a:r>
          </a:p>
          <a:p>
            <a:pPr algn="l">
              <a:spcAft>
                <a:spcPts val="200"/>
              </a:spcAft>
            </a:pPr>
            <a:r>
              <a:rPr sz="1210" b="0">
                <a:solidFill>
                  <a:srgbClr val="F1F9F4"/>
                </a:solidFill>
                <a:latin typeface="Aptos"/>
              </a:rPr>
              <a:t>Optional Streamlit client</a:t>
            </a:r>
          </a:p>
        </p:txBody>
      </p:sp>
      <p:sp>
        <p:nvSpPr>
          <p:cNvPr id="10" name="Rounded Rectangle 9"/>
          <p:cNvSpPr/>
          <p:nvPr/>
        </p:nvSpPr>
        <p:spPr>
          <a:xfrm>
            <a:off x="4517136" y="1737360"/>
            <a:ext cx="3438144" cy="224028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1837943"/>
            <a:ext cx="3145536"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RETRIEVAL + DATA</a:t>
            </a:r>
          </a:p>
        </p:txBody>
      </p:sp>
      <p:sp>
        <p:nvSpPr>
          <p:cNvPr id="12" name="TextBox 11"/>
          <p:cNvSpPr txBox="1"/>
          <p:nvPr/>
        </p:nvSpPr>
        <p:spPr>
          <a:xfrm>
            <a:off x="4663440" y="2185415"/>
            <a:ext cx="3145536" cy="1728216"/>
          </a:xfrm>
          <a:prstGeom prst="rect">
            <a:avLst/>
          </a:prstGeom>
          <a:noFill/>
        </p:spPr>
        <p:txBody>
          <a:bodyPr wrap="square" lIns="27432" rIns="27432" tIns="27432" bIns="27432" anchor="t">
            <a:spAutoFit/>
          </a:bodyPr>
          <a:lstStyle/>
          <a:p>
            <a:pPr algn="l">
              <a:spcAft>
                <a:spcPts val="200"/>
              </a:spcAft>
            </a:pPr>
            <a:r>
              <a:rPr sz="1210" b="0">
                <a:solidFill>
                  <a:srgbClr val="F1F9F4"/>
                </a:solidFill>
                <a:latin typeface="Aptos"/>
              </a:rPr>
              <a:t>FAISS CPU IndexFlatIP</a:t>
            </a:r>
          </a:p>
          <a:p>
            <a:pPr algn="l">
              <a:spcAft>
                <a:spcPts val="200"/>
              </a:spcAft>
            </a:pPr>
            <a:r>
              <a:rPr sz="1210" b="0">
                <a:solidFill>
                  <a:srgbClr val="F1F9F4"/>
                </a:solidFill>
                <a:latin typeface="Aptos"/>
              </a:rPr>
              <a:t>TF-IDF keyword index</a:t>
            </a:r>
          </a:p>
          <a:p>
            <a:pPr algn="l">
              <a:spcAft>
                <a:spcPts val="200"/>
              </a:spcAft>
            </a:pPr>
            <a:r>
              <a:rPr sz="1210" b="0">
                <a:solidFill>
                  <a:srgbClr val="F1F9F4"/>
                </a:solidFill>
                <a:latin typeface="Aptos"/>
              </a:rPr>
              <a:t>HashingVectorizer + seeded projection</a:t>
            </a:r>
          </a:p>
          <a:p>
            <a:pPr algn="l">
              <a:spcAft>
                <a:spcPts val="200"/>
              </a:spcAft>
            </a:pPr>
            <a:r>
              <a:rPr sz="1210" b="0">
                <a:solidFill>
                  <a:srgbClr val="F1F9F4"/>
                </a:solidFill>
                <a:latin typeface="Aptos"/>
              </a:rPr>
              <a:t>Pandas ? NumPy ? CSV / SQLite / JSON</a:t>
            </a:r>
          </a:p>
        </p:txBody>
      </p:sp>
      <p:sp>
        <p:nvSpPr>
          <p:cNvPr id="13" name="Rounded Rectangle 12"/>
          <p:cNvSpPr/>
          <p:nvPr/>
        </p:nvSpPr>
        <p:spPr>
          <a:xfrm>
            <a:off x="8247888" y="1737360"/>
            <a:ext cx="3438144" cy="224028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1837943"/>
            <a:ext cx="3145536"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MODELS + EVALUATION</a:t>
            </a:r>
          </a:p>
        </p:txBody>
      </p:sp>
      <p:sp>
        <p:nvSpPr>
          <p:cNvPr id="15" name="TextBox 14"/>
          <p:cNvSpPr txBox="1"/>
          <p:nvPr/>
        </p:nvSpPr>
        <p:spPr>
          <a:xfrm>
            <a:off x="8394192" y="2185415"/>
            <a:ext cx="3145536" cy="1728216"/>
          </a:xfrm>
          <a:prstGeom prst="rect">
            <a:avLst/>
          </a:prstGeom>
          <a:noFill/>
        </p:spPr>
        <p:txBody>
          <a:bodyPr wrap="square" lIns="27432" rIns="27432" tIns="27432" bIns="27432" anchor="t">
            <a:spAutoFit/>
          </a:bodyPr>
          <a:lstStyle/>
          <a:p>
            <a:pPr algn="l">
              <a:spcAft>
                <a:spcPts val="200"/>
              </a:spcAft>
            </a:pPr>
            <a:r>
              <a:rPr sz="1210" b="0">
                <a:solidFill>
                  <a:srgbClr val="F1F9F4"/>
                </a:solidFill>
                <a:latin typeface="Aptos"/>
              </a:rPr>
              <a:t>scikit-learn RandomForestRegressor</a:t>
            </a:r>
          </a:p>
          <a:p>
            <a:pPr algn="l">
              <a:spcAft>
                <a:spcPts val="200"/>
              </a:spcAft>
            </a:pPr>
            <a:r>
              <a:rPr sz="1210" b="0">
                <a:solidFill>
                  <a:srgbClr val="F1F9F4"/>
                </a:solidFill>
                <a:latin typeface="Aptos"/>
              </a:rPr>
              <a:t>scikit-learn RandomForestClassifier</a:t>
            </a:r>
          </a:p>
          <a:p>
            <a:pPr algn="l">
              <a:spcAft>
                <a:spcPts val="200"/>
              </a:spcAft>
            </a:pPr>
            <a:r>
              <a:rPr sz="1210" b="0">
                <a:solidFill>
                  <a:srgbClr val="F1F9F4"/>
                </a:solidFill>
                <a:latin typeface="Aptos"/>
              </a:rPr>
              <a:t>RAGAS + DeepEval integration</a:t>
            </a:r>
          </a:p>
          <a:p>
            <a:pPr algn="l">
              <a:spcAft>
                <a:spcPts val="200"/>
              </a:spcAft>
            </a:pPr>
            <a:r>
              <a:rPr sz="1210" b="0">
                <a:solidFill>
                  <a:srgbClr val="F1F9F4"/>
                </a:solidFill>
                <a:latin typeface="Aptos"/>
              </a:rPr>
              <a:t>Optional OpenAI-compatible judge</a:t>
            </a:r>
          </a:p>
        </p:txBody>
      </p:sp>
      <p:sp>
        <p:nvSpPr>
          <p:cNvPr id="16" name="TextBox 15"/>
          <p:cNvSpPr txBox="1"/>
          <p:nvPr/>
        </p:nvSpPr>
        <p:spPr>
          <a:xfrm>
            <a:off x="822960" y="4315968"/>
            <a:ext cx="10424160" cy="292608"/>
          </a:xfrm>
          <a:prstGeom prst="rect">
            <a:avLst/>
          </a:prstGeom>
          <a:noFill/>
        </p:spPr>
        <p:txBody>
          <a:bodyPr wrap="square" lIns="27432" rIns="27432" tIns="27432" bIns="27432" anchor="t">
            <a:spAutoFit/>
          </a:bodyPr>
          <a:lstStyle/>
          <a:p>
            <a:pPr algn="l">
              <a:spcAft>
                <a:spcPts val="200"/>
              </a:spcAft>
            </a:pPr>
            <a:r>
              <a:rPr sz="1000" b="1">
                <a:solidFill>
                  <a:srgbClr val="F7C953"/>
                </a:solidFill>
                <a:latin typeface="Aptos"/>
              </a:rPr>
              <a:t>IMPORTANT IMPLEMENTATION BOUNDARIES</a:t>
            </a:r>
          </a:p>
        </p:txBody>
      </p:sp>
      <p:sp>
        <p:nvSpPr>
          <p:cNvPr id="17" name="Rounded Rectangle 16"/>
          <p:cNvSpPr/>
          <p:nvPr/>
        </p:nvSpPr>
        <p:spPr>
          <a:xfrm>
            <a:off x="786384" y="4681728"/>
            <a:ext cx="5212080" cy="100584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782312"/>
            <a:ext cx="491947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LOCAL EMBEDDING REPRESENTATION</a:t>
            </a:r>
          </a:p>
        </p:txBody>
      </p:sp>
      <p:sp>
        <p:nvSpPr>
          <p:cNvPr id="19" name="TextBox 18"/>
          <p:cNvSpPr txBox="1"/>
          <p:nvPr/>
        </p:nvSpPr>
        <p:spPr>
          <a:xfrm>
            <a:off x="932688" y="5129784"/>
            <a:ext cx="4919472" cy="493776"/>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Deterministic feature hashing + seeded projection; no pretrained embedding model is downloaded by default.</a:t>
            </a:r>
          </a:p>
        </p:txBody>
      </p:sp>
      <p:sp>
        <p:nvSpPr>
          <p:cNvPr id="20" name="Rounded Rectangle 19"/>
          <p:cNvSpPr/>
          <p:nvPr/>
        </p:nvSpPr>
        <p:spPr>
          <a:xfrm>
            <a:off x="6217920" y="4681728"/>
            <a:ext cx="5221224" cy="100584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64224" y="4782312"/>
            <a:ext cx="4928616"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NO CHROMADB / NO CHUNK PIPELINE</a:t>
            </a:r>
          </a:p>
        </p:txBody>
      </p:sp>
      <p:sp>
        <p:nvSpPr>
          <p:cNvPr id="22" name="TextBox 21"/>
          <p:cNvSpPr txBox="1"/>
          <p:nvPr/>
        </p:nvSpPr>
        <p:spPr>
          <a:xfrm>
            <a:off x="6364224" y="5129784"/>
            <a:ext cx="4928616" cy="493776"/>
          </a:xfrm>
          <a:prstGeom prst="rect">
            <a:avLst/>
          </a:prstGeom>
          <a:noFill/>
        </p:spPr>
        <p:txBody>
          <a:bodyPr wrap="square" lIns="27432" rIns="27432" tIns="27432" bIns="27432" anchor="t">
            <a:spAutoFit/>
          </a:bodyPr>
          <a:lstStyle/>
          <a:p>
            <a:pPr algn="l">
              <a:spcAft>
                <a:spcPts val="200"/>
              </a:spcAft>
            </a:pPr>
            <a:r>
              <a:rPr sz="1080" b="0">
                <a:solidFill>
                  <a:srgbClr val="F1F9F4"/>
                </a:solidFill>
                <a:latin typeface="Aptos"/>
              </a:rPr>
              <a:t>The indexed units are structured case rows; the implemented vector store is FAISS.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Agent workflow</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08</a:t>
            </a:r>
          </a:p>
        </p:txBody>
      </p:sp>
      <p:sp>
        <p:nvSpPr>
          <p:cNvPr id="7" name="Rounded Rectangle 6"/>
          <p:cNvSpPr/>
          <p:nvPr/>
        </p:nvSpPr>
        <p:spPr>
          <a:xfrm>
            <a:off x="722376" y="1938528"/>
            <a:ext cx="2121408" cy="20299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039112"/>
            <a:ext cx="1828799" cy="320040"/>
          </a:xfrm>
          <a:prstGeom prst="rect">
            <a:avLst/>
          </a:prstGeom>
          <a:noFill/>
        </p:spPr>
        <p:txBody>
          <a:bodyPr wrap="square" lIns="27432" rIns="27432" tIns="27432" bIns="27432" anchor="t">
            <a:spAutoFit/>
          </a:bodyPr>
          <a:lstStyle/>
          <a:p>
            <a:pPr algn="l">
              <a:spcAft>
                <a:spcPts val="200"/>
              </a:spcAft>
            </a:pPr>
            <a:r>
              <a:rPr sz="1130" b="1">
                <a:solidFill>
                  <a:srgbClr val="23D385"/>
                </a:solidFill>
                <a:latin typeface="Aptos"/>
              </a:rPr>
              <a:t>GUARDRAILS</a:t>
            </a:r>
          </a:p>
        </p:txBody>
      </p:sp>
      <p:sp>
        <p:nvSpPr>
          <p:cNvPr id="9" name="TextBox 8"/>
          <p:cNvSpPr txBox="1"/>
          <p:nvPr/>
        </p:nvSpPr>
        <p:spPr>
          <a:xfrm>
            <a:off x="868680" y="2386584"/>
            <a:ext cx="1828799" cy="1517904"/>
          </a:xfrm>
          <a:prstGeom prst="rect">
            <a:avLst/>
          </a:prstGeom>
          <a:noFill/>
        </p:spPr>
        <p:txBody>
          <a:bodyPr wrap="square" lIns="27432" rIns="27432" tIns="27432" bIns="27432" anchor="t">
            <a:spAutoFit/>
          </a:bodyPr>
          <a:lstStyle/>
          <a:p>
            <a:pPr algn="l">
              <a:spcAft>
                <a:spcPts val="200"/>
              </a:spcAft>
            </a:pPr>
            <a:r>
              <a:rPr sz="1030" b="0">
                <a:solidFill>
                  <a:srgbClr val="F1F9F4"/>
                </a:solidFill>
                <a:latin typeface="Aptos"/>
              </a:rPr>
              <a:t>Text validity</a:t>
            </a:r>
          </a:p>
          <a:p>
            <a:pPr algn="l">
              <a:spcAft>
                <a:spcPts val="200"/>
              </a:spcAft>
            </a:pPr>
            <a:r>
              <a:rPr sz="1030" b="0">
                <a:solidFill>
                  <a:srgbClr val="F1F9F4"/>
                </a:solidFill>
                <a:latin typeface="Aptos"/>
              </a:rPr>
              <a:t>Prompt injection</a:t>
            </a:r>
          </a:p>
          <a:p>
            <a:pPr algn="l">
              <a:spcAft>
                <a:spcPts val="200"/>
              </a:spcAft>
            </a:pPr>
            <a:r>
              <a:rPr sz="1030" b="0">
                <a:solidFill>
                  <a:srgbClr val="F1F9F4"/>
                </a:solidFill>
                <a:latin typeface="Aptos"/>
              </a:rPr>
              <a:t>Agricultural scope</a:t>
            </a:r>
          </a:p>
          <a:p>
            <a:pPr algn="l">
              <a:spcAft>
                <a:spcPts val="200"/>
              </a:spcAft>
            </a:pPr>
            <a:r>
              <a:rPr sz="1030" b="0">
                <a:solidFill>
                  <a:srgbClr val="F1F9F4"/>
                </a:solidFill>
                <a:latin typeface="Aptos"/>
              </a:rPr>
              <a:t>Input ranges</a:t>
            </a:r>
          </a:p>
        </p:txBody>
      </p:sp>
      <p:sp>
        <p:nvSpPr>
          <p:cNvPr id="10" name="TextBox 9"/>
          <p:cNvSpPr txBox="1"/>
          <p:nvPr/>
        </p:nvSpPr>
        <p:spPr>
          <a:xfrm>
            <a:off x="2862072" y="2734056"/>
            <a:ext cx="164592" cy="292608"/>
          </a:xfrm>
          <a:prstGeom prst="rect">
            <a:avLst/>
          </a:prstGeom>
          <a:noFill/>
        </p:spPr>
        <p:txBody>
          <a:bodyPr wrap="square" lIns="27432" rIns="27432" tIns="27432" bIns="27432" anchor="t">
            <a:spAutoFit/>
          </a:bodyPr>
          <a:lstStyle/>
          <a:p>
            <a:pPr algn="ctr">
              <a:spcAft>
                <a:spcPts val="200"/>
              </a:spcAft>
            </a:pPr>
            <a:r>
              <a:rPr sz="1900" b="1">
                <a:solidFill>
                  <a:srgbClr val="23D385"/>
                </a:solidFill>
                <a:latin typeface="Aptos"/>
              </a:rPr>
              <a:t>?</a:t>
            </a:r>
          </a:p>
        </p:txBody>
      </p:sp>
      <p:sp>
        <p:nvSpPr>
          <p:cNvPr id="11" name="Rounded Rectangle 10"/>
          <p:cNvSpPr/>
          <p:nvPr/>
        </p:nvSpPr>
        <p:spPr>
          <a:xfrm>
            <a:off x="3026664" y="1938528"/>
            <a:ext cx="2121408" cy="20299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72968" y="2039112"/>
            <a:ext cx="1828799" cy="320040"/>
          </a:xfrm>
          <a:prstGeom prst="rect">
            <a:avLst/>
          </a:prstGeom>
          <a:noFill/>
        </p:spPr>
        <p:txBody>
          <a:bodyPr wrap="square" lIns="27432" rIns="27432" tIns="27432" bIns="27432" anchor="t">
            <a:spAutoFit/>
          </a:bodyPr>
          <a:lstStyle/>
          <a:p>
            <a:pPr algn="l">
              <a:spcAft>
                <a:spcPts val="200"/>
              </a:spcAft>
            </a:pPr>
            <a:r>
              <a:rPr sz="1130" b="1">
                <a:solidFill>
                  <a:srgbClr val="23D385"/>
                </a:solidFill>
                <a:latin typeface="Aptos"/>
              </a:rPr>
              <a:t>UNDERSTAND</a:t>
            </a:r>
          </a:p>
        </p:txBody>
      </p:sp>
      <p:sp>
        <p:nvSpPr>
          <p:cNvPr id="13" name="TextBox 12"/>
          <p:cNvSpPr txBox="1"/>
          <p:nvPr/>
        </p:nvSpPr>
        <p:spPr>
          <a:xfrm>
            <a:off x="3172968" y="2386584"/>
            <a:ext cx="1828799" cy="1517904"/>
          </a:xfrm>
          <a:prstGeom prst="rect">
            <a:avLst/>
          </a:prstGeom>
          <a:noFill/>
        </p:spPr>
        <p:txBody>
          <a:bodyPr wrap="square" lIns="27432" rIns="27432" tIns="27432" bIns="27432" anchor="t">
            <a:spAutoFit/>
          </a:bodyPr>
          <a:lstStyle/>
          <a:p>
            <a:pPr algn="l">
              <a:spcAft>
                <a:spcPts val="200"/>
              </a:spcAft>
            </a:pPr>
            <a:r>
              <a:rPr sz="1030" b="0">
                <a:solidFill>
                  <a:srgbClr val="F1F9F4"/>
                </a:solidFill>
                <a:latin typeface="Aptos"/>
              </a:rPr>
              <a:t>Rule-based intent</a:t>
            </a:r>
          </a:p>
          <a:p>
            <a:pPr algn="l">
              <a:spcAft>
                <a:spcPts val="200"/>
              </a:spcAft>
            </a:pPr>
            <a:r>
              <a:rPr sz="1030" b="0">
                <a:solidFill>
                  <a:srgbClr val="F1F9F4"/>
                </a:solidFill>
                <a:latin typeface="Aptos"/>
              </a:rPr>
              <a:t>Crop/state/season</a:t>
            </a:r>
          </a:p>
          <a:p>
            <a:pPr algn="l">
              <a:spcAft>
                <a:spcPts val="200"/>
              </a:spcAft>
            </a:pPr>
            <a:r>
              <a:rPr sz="1030" b="0">
                <a:solidFill>
                  <a:srgbClr val="F1F9F4"/>
                </a:solidFill>
                <a:latin typeface="Aptos"/>
              </a:rPr>
              <a:t>Soil + weather values</a:t>
            </a:r>
          </a:p>
        </p:txBody>
      </p:sp>
      <p:sp>
        <p:nvSpPr>
          <p:cNvPr id="14" name="TextBox 13"/>
          <p:cNvSpPr txBox="1"/>
          <p:nvPr/>
        </p:nvSpPr>
        <p:spPr>
          <a:xfrm>
            <a:off x="5166360" y="2734056"/>
            <a:ext cx="164592" cy="292608"/>
          </a:xfrm>
          <a:prstGeom prst="rect">
            <a:avLst/>
          </a:prstGeom>
          <a:noFill/>
        </p:spPr>
        <p:txBody>
          <a:bodyPr wrap="square" lIns="27432" rIns="27432" tIns="27432" bIns="27432" anchor="t">
            <a:spAutoFit/>
          </a:bodyPr>
          <a:lstStyle/>
          <a:p>
            <a:pPr algn="ctr">
              <a:spcAft>
                <a:spcPts val="200"/>
              </a:spcAft>
            </a:pPr>
            <a:r>
              <a:rPr sz="1900" b="1">
                <a:solidFill>
                  <a:srgbClr val="23D385"/>
                </a:solidFill>
                <a:latin typeface="Aptos"/>
              </a:rPr>
              <a:t>?</a:t>
            </a:r>
          </a:p>
        </p:txBody>
      </p:sp>
      <p:sp>
        <p:nvSpPr>
          <p:cNvPr id="15" name="Rounded Rectangle 14"/>
          <p:cNvSpPr/>
          <p:nvPr/>
        </p:nvSpPr>
        <p:spPr>
          <a:xfrm>
            <a:off x="5330952" y="1938528"/>
            <a:ext cx="2121408" cy="20299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77256" y="2039112"/>
            <a:ext cx="1828799" cy="320040"/>
          </a:xfrm>
          <a:prstGeom prst="rect">
            <a:avLst/>
          </a:prstGeom>
          <a:noFill/>
        </p:spPr>
        <p:txBody>
          <a:bodyPr wrap="square" lIns="27432" rIns="27432" tIns="27432" bIns="27432" anchor="t">
            <a:spAutoFit/>
          </a:bodyPr>
          <a:lstStyle/>
          <a:p>
            <a:pPr algn="l">
              <a:spcAft>
                <a:spcPts val="200"/>
              </a:spcAft>
            </a:pPr>
            <a:r>
              <a:rPr sz="1130" b="1">
                <a:solidFill>
                  <a:srgbClr val="23D385"/>
                </a:solidFill>
                <a:latin typeface="Aptos"/>
              </a:rPr>
              <a:t>RETRIEVE</a:t>
            </a:r>
          </a:p>
        </p:txBody>
      </p:sp>
      <p:sp>
        <p:nvSpPr>
          <p:cNvPr id="17" name="TextBox 16"/>
          <p:cNvSpPr txBox="1"/>
          <p:nvPr/>
        </p:nvSpPr>
        <p:spPr>
          <a:xfrm>
            <a:off x="5477256" y="2386584"/>
            <a:ext cx="1828799" cy="1517904"/>
          </a:xfrm>
          <a:prstGeom prst="rect">
            <a:avLst/>
          </a:prstGeom>
          <a:noFill/>
        </p:spPr>
        <p:txBody>
          <a:bodyPr wrap="square" lIns="27432" rIns="27432" tIns="27432" bIns="27432" anchor="t">
            <a:spAutoFit/>
          </a:bodyPr>
          <a:lstStyle/>
          <a:p>
            <a:pPr algn="l">
              <a:spcAft>
                <a:spcPts val="200"/>
              </a:spcAft>
            </a:pPr>
            <a:r>
              <a:rPr sz="1030" b="0">
                <a:solidFill>
                  <a:srgbClr val="F1F9F4"/>
                </a:solidFill>
                <a:latin typeface="Aptos"/>
              </a:rPr>
              <a:t>Dense + TF-IDF</a:t>
            </a:r>
          </a:p>
          <a:p>
            <a:pPr algn="l">
              <a:spcAft>
                <a:spcPts val="200"/>
              </a:spcAft>
            </a:pPr>
            <a:r>
              <a:rPr sz="1030" b="0">
                <a:solidFill>
                  <a:srgbClr val="F1F9F4"/>
                </a:solidFill>
                <a:latin typeface="Aptos"/>
              </a:rPr>
              <a:t>Metadata fit</a:t>
            </a:r>
          </a:p>
          <a:p>
            <a:pPr algn="l">
              <a:spcAft>
                <a:spcPts val="200"/>
              </a:spcAft>
            </a:pPr>
            <a:r>
              <a:rPr sz="1030" b="0">
                <a:solidFill>
                  <a:srgbClr val="F1F9F4"/>
                </a:solidFill>
                <a:latin typeface="Aptos"/>
              </a:rPr>
              <a:t>Hybrid rerank top-K</a:t>
            </a:r>
          </a:p>
        </p:txBody>
      </p:sp>
      <p:sp>
        <p:nvSpPr>
          <p:cNvPr id="18" name="TextBox 17"/>
          <p:cNvSpPr txBox="1"/>
          <p:nvPr/>
        </p:nvSpPr>
        <p:spPr>
          <a:xfrm>
            <a:off x="7470648" y="2734056"/>
            <a:ext cx="164592" cy="292608"/>
          </a:xfrm>
          <a:prstGeom prst="rect">
            <a:avLst/>
          </a:prstGeom>
          <a:noFill/>
        </p:spPr>
        <p:txBody>
          <a:bodyPr wrap="square" lIns="27432" rIns="27432" tIns="27432" bIns="27432" anchor="t">
            <a:spAutoFit/>
          </a:bodyPr>
          <a:lstStyle/>
          <a:p>
            <a:pPr algn="ctr">
              <a:spcAft>
                <a:spcPts val="200"/>
              </a:spcAft>
            </a:pPr>
            <a:r>
              <a:rPr sz="1900" b="1">
                <a:solidFill>
                  <a:srgbClr val="23D385"/>
                </a:solidFill>
                <a:latin typeface="Aptos"/>
              </a:rPr>
              <a:t>?</a:t>
            </a:r>
          </a:p>
        </p:txBody>
      </p:sp>
      <p:sp>
        <p:nvSpPr>
          <p:cNvPr id="19" name="Rounded Rectangle 18"/>
          <p:cNvSpPr/>
          <p:nvPr/>
        </p:nvSpPr>
        <p:spPr>
          <a:xfrm>
            <a:off x="7635240" y="1938528"/>
            <a:ext cx="2121408" cy="20299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81544" y="2039112"/>
            <a:ext cx="1828799" cy="320040"/>
          </a:xfrm>
          <a:prstGeom prst="rect">
            <a:avLst/>
          </a:prstGeom>
          <a:noFill/>
        </p:spPr>
        <p:txBody>
          <a:bodyPr wrap="square" lIns="27432" rIns="27432" tIns="27432" bIns="27432" anchor="t">
            <a:spAutoFit/>
          </a:bodyPr>
          <a:lstStyle/>
          <a:p>
            <a:pPr algn="l">
              <a:spcAft>
                <a:spcPts val="200"/>
              </a:spcAft>
            </a:pPr>
            <a:r>
              <a:rPr sz="1130" b="1">
                <a:solidFill>
                  <a:srgbClr val="23D385"/>
                </a:solidFill>
                <a:latin typeface="Aptos"/>
              </a:rPr>
              <a:t>ANALYZE</a:t>
            </a:r>
          </a:p>
        </p:txBody>
      </p:sp>
      <p:sp>
        <p:nvSpPr>
          <p:cNvPr id="21" name="TextBox 20"/>
          <p:cNvSpPr txBox="1"/>
          <p:nvPr/>
        </p:nvSpPr>
        <p:spPr>
          <a:xfrm>
            <a:off x="7781544" y="2386584"/>
            <a:ext cx="1828799" cy="1517904"/>
          </a:xfrm>
          <a:prstGeom prst="rect">
            <a:avLst/>
          </a:prstGeom>
          <a:noFill/>
        </p:spPr>
        <p:txBody>
          <a:bodyPr wrap="square" lIns="27432" rIns="27432" tIns="27432" bIns="27432" anchor="t">
            <a:spAutoFit/>
          </a:bodyPr>
          <a:lstStyle/>
          <a:p>
            <a:pPr algn="l">
              <a:spcAft>
                <a:spcPts val="200"/>
              </a:spcAft>
            </a:pPr>
            <a:r>
              <a:rPr sz="1030" b="0">
                <a:solidFill>
                  <a:srgbClr val="F1F9F4"/>
                </a:solidFill>
                <a:latin typeface="Aptos"/>
              </a:rPr>
              <a:t>Crop recommendation</a:t>
            </a:r>
          </a:p>
          <a:p>
            <a:pPr algn="l">
              <a:spcAft>
                <a:spcPts val="200"/>
              </a:spcAft>
            </a:pPr>
            <a:r>
              <a:rPr sz="1030" b="0">
                <a:solidFill>
                  <a:srgbClr val="F1F9F4"/>
                </a:solidFill>
                <a:latin typeface="Aptos"/>
              </a:rPr>
              <a:t>Risk + impact analysis</a:t>
            </a:r>
          </a:p>
          <a:p>
            <a:pPr algn="l">
              <a:spcAft>
                <a:spcPts val="200"/>
              </a:spcAft>
            </a:pPr>
            <a:r>
              <a:rPr sz="1030" b="0">
                <a:solidFill>
                  <a:srgbClr val="F1F9F4"/>
                </a:solidFill>
                <a:latin typeface="Aptos"/>
              </a:rPr>
              <a:t>Yield model when usable</a:t>
            </a:r>
          </a:p>
        </p:txBody>
      </p:sp>
      <p:sp>
        <p:nvSpPr>
          <p:cNvPr id="22" name="TextBox 21"/>
          <p:cNvSpPr txBox="1"/>
          <p:nvPr/>
        </p:nvSpPr>
        <p:spPr>
          <a:xfrm>
            <a:off x="9774936" y="2734056"/>
            <a:ext cx="164592" cy="292608"/>
          </a:xfrm>
          <a:prstGeom prst="rect">
            <a:avLst/>
          </a:prstGeom>
          <a:noFill/>
        </p:spPr>
        <p:txBody>
          <a:bodyPr wrap="square" lIns="27432" rIns="27432" tIns="27432" bIns="27432" anchor="t">
            <a:spAutoFit/>
          </a:bodyPr>
          <a:lstStyle/>
          <a:p>
            <a:pPr algn="ctr">
              <a:spcAft>
                <a:spcPts val="200"/>
              </a:spcAft>
            </a:pPr>
            <a:r>
              <a:rPr sz="1900" b="1">
                <a:solidFill>
                  <a:srgbClr val="23D385"/>
                </a:solidFill>
                <a:latin typeface="Aptos"/>
              </a:rPr>
              <a:t>?</a:t>
            </a:r>
          </a:p>
        </p:txBody>
      </p:sp>
      <p:sp>
        <p:nvSpPr>
          <p:cNvPr id="23" name="Rounded Rectangle 22"/>
          <p:cNvSpPr/>
          <p:nvPr/>
        </p:nvSpPr>
        <p:spPr>
          <a:xfrm>
            <a:off x="9939528" y="1938528"/>
            <a:ext cx="2121408" cy="20299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85832" y="2039112"/>
            <a:ext cx="1828799" cy="320040"/>
          </a:xfrm>
          <a:prstGeom prst="rect">
            <a:avLst/>
          </a:prstGeom>
          <a:noFill/>
        </p:spPr>
        <p:txBody>
          <a:bodyPr wrap="square" lIns="27432" rIns="27432" tIns="27432" bIns="27432" anchor="t">
            <a:spAutoFit/>
          </a:bodyPr>
          <a:lstStyle/>
          <a:p>
            <a:pPr algn="l">
              <a:spcAft>
                <a:spcPts val="200"/>
              </a:spcAft>
            </a:pPr>
            <a:r>
              <a:rPr sz="1130" b="1">
                <a:solidFill>
                  <a:srgbClr val="F7C953"/>
                </a:solidFill>
                <a:latin typeface="Aptos"/>
              </a:rPr>
              <a:t>VALIDATE + ASSEMBLE</a:t>
            </a:r>
          </a:p>
        </p:txBody>
      </p:sp>
      <p:sp>
        <p:nvSpPr>
          <p:cNvPr id="25" name="TextBox 24"/>
          <p:cNvSpPr txBox="1"/>
          <p:nvPr/>
        </p:nvSpPr>
        <p:spPr>
          <a:xfrm>
            <a:off x="10085832" y="2386584"/>
            <a:ext cx="1828799" cy="1517904"/>
          </a:xfrm>
          <a:prstGeom prst="rect">
            <a:avLst/>
          </a:prstGeom>
          <a:noFill/>
        </p:spPr>
        <p:txBody>
          <a:bodyPr wrap="square" lIns="27432" rIns="27432" tIns="27432" bIns="27432" anchor="t">
            <a:spAutoFit/>
          </a:bodyPr>
          <a:lstStyle/>
          <a:p>
            <a:pPr algn="l">
              <a:spcAft>
                <a:spcPts val="200"/>
              </a:spcAft>
            </a:pPr>
            <a:r>
              <a:rPr sz="1030" b="0">
                <a:solidFill>
                  <a:srgbClr val="F1F9F4"/>
                </a:solidFill>
                <a:latin typeface="Aptos"/>
              </a:rPr>
              <a:t>Evidence grounding</a:t>
            </a:r>
          </a:p>
          <a:p>
            <a:pPr algn="l">
              <a:spcAft>
                <a:spcPts val="200"/>
              </a:spcAft>
            </a:pPr>
            <a:r>
              <a:rPr sz="1030" b="0">
                <a:solidFill>
                  <a:srgbClr val="F1F9F4"/>
                </a:solidFill>
                <a:latin typeface="Aptos"/>
              </a:rPr>
              <a:t>Case references</a:t>
            </a:r>
          </a:p>
          <a:p>
            <a:pPr algn="l">
              <a:spcAft>
                <a:spcPts val="200"/>
              </a:spcAft>
            </a:pPr>
            <a:r>
              <a:rPr sz="1030" b="0">
                <a:solidFill>
                  <a:srgbClr val="F1F9F4"/>
                </a:solidFill>
                <a:latin typeface="Aptos"/>
              </a:rPr>
              <a:t>Safety wording</a:t>
            </a:r>
          </a:p>
          <a:p>
            <a:pPr algn="l">
              <a:spcAft>
                <a:spcPts val="200"/>
              </a:spcAft>
            </a:pPr>
            <a:r>
              <a:rPr sz="1030" b="0">
                <a:solidFill>
                  <a:srgbClr val="F1F9F4"/>
                </a:solidFill>
                <a:latin typeface="Aptos"/>
              </a:rPr>
              <a:t>Structured response</a:t>
            </a:r>
          </a:p>
        </p:txBody>
      </p:sp>
      <p:sp>
        <p:nvSpPr>
          <p:cNvPr id="26" name="Rounded Rectangle 25"/>
          <p:cNvSpPr/>
          <p:nvPr/>
        </p:nvSpPr>
        <p:spPr>
          <a:xfrm>
            <a:off x="786384" y="4407408"/>
            <a:ext cx="10652760" cy="1024128"/>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4544568"/>
            <a:ext cx="1828800" cy="292608"/>
          </a:xfrm>
          <a:prstGeom prst="rect">
            <a:avLst/>
          </a:prstGeom>
          <a:noFill/>
        </p:spPr>
        <p:txBody>
          <a:bodyPr wrap="square" lIns="27432" rIns="27432" tIns="27432" bIns="27432" anchor="t">
            <a:spAutoFit/>
          </a:bodyPr>
          <a:lstStyle/>
          <a:p>
            <a:pPr algn="l">
              <a:spcAft>
                <a:spcPts val="200"/>
              </a:spcAft>
            </a:pPr>
            <a:r>
              <a:rPr sz="1000" b="1">
                <a:solidFill>
                  <a:srgbClr val="F7C953"/>
                </a:solidFill>
                <a:latin typeface="Aptos"/>
              </a:rPr>
              <a:t>FAILURE HANDLING</a:t>
            </a:r>
          </a:p>
        </p:txBody>
      </p:sp>
      <p:sp>
        <p:nvSpPr>
          <p:cNvPr id="28" name="TextBox 27"/>
          <p:cNvSpPr txBox="1"/>
          <p:nvPr/>
        </p:nvSpPr>
        <p:spPr>
          <a:xfrm>
            <a:off x="987552" y="4882896"/>
            <a:ext cx="10168128" cy="384048"/>
          </a:xfrm>
          <a:prstGeom prst="rect">
            <a:avLst/>
          </a:prstGeom>
          <a:noFill/>
        </p:spPr>
        <p:txBody>
          <a:bodyPr wrap="square" lIns="27432" rIns="27432" tIns="27432" bIns="27432" anchor="t">
            <a:spAutoFit/>
          </a:bodyPr>
          <a:lstStyle/>
          <a:p>
            <a:pPr algn="l">
              <a:spcAft>
                <a:spcPts val="200"/>
              </a:spcAft>
            </a:pPr>
            <a:r>
              <a:rPr sz="1150" b="0">
                <a:solidFill>
                  <a:srgbClr val="F1F9F4"/>
                </a:solidFill>
                <a:latin typeface="Aptos"/>
              </a:rPr>
              <a:t>Local retrieval / ML can continue without a live judge. Evaluation shows N/A if labels are missing and visibly labels proxy estimates when judge calls fail.</a:t>
            </a:r>
          </a:p>
        </p:txBody>
      </p:sp>
      <p:sp>
        <p:nvSpPr>
          <p:cNvPr id="29" name="TextBox 28"/>
          <p:cNvSpPr txBox="1"/>
          <p:nvPr/>
        </p:nvSpPr>
        <p:spPr>
          <a:xfrm>
            <a:off x="822960" y="5650992"/>
            <a:ext cx="10332720" cy="256032"/>
          </a:xfrm>
          <a:prstGeom prst="rect">
            <a:avLst/>
          </a:prstGeom>
          <a:noFill/>
        </p:spPr>
        <p:txBody>
          <a:bodyPr wrap="square" lIns="27432" rIns="27432" tIns="27432" bIns="27432" anchor="t">
            <a:spAutoFit/>
          </a:bodyPr>
          <a:lstStyle/>
          <a:p>
            <a:pPr algn="l">
              <a:spcAft>
                <a:spcPts val="200"/>
              </a:spcAft>
            </a:pPr>
            <a:r>
              <a:rPr sz="1000" b="0">
                <a:solidFill>
                  <a:srgbClr val="B2CDBE"/>
                </a:solidFill>
                <a:latin typeface="Aptos"/>
              </a:rPr>
              <a:t>Coordinated Python modules; no autonomous-agent framework is present.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Evaluation results</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10</a:t>
            </a:r>
          </a:p>
        </p:txBody>
      </p:sp>
      <p:sp>
        <p:nvSpPr>
          <p:cNvPr id="7" name="TextBox 6"/>
          <p:cNvSpPr txBox="1"/>
          <p:nvPr/>
        </p:nvSpPr>
        <p:spPr>
          <a:xfrm>
            <a:off x="786384" y="1344168"/>
            <a:ext cx="10515600" cy="301752"/>
          </a:xfrm>
          <a:prstGeom prst="rect">
            <a:avLst/>
          </a:prstGeom>
          <a:noFill/>
        </p:spPr>
        <p:txBody>
          <a:bodyPr wrap="square" lIns="27432" rIns="27432" tIns="27432" bIns="27432" anchor="t">
            <a:spAutoFit/>
          </a:bodyPr>
          <a:lstStyle/>
          <a:p>
            <a:pPr algn="l">
              <a:spcAft>
                <a:spcPts val="200"/>
              </a:spcAft>
            </a:pPr>
            <a:r>
              <a:rPr sz="960" b="1">
                <a:solidFill>
                  <a:srgbClr val="F7C953"/>
                </a:solidFill>
                <a:latin typeface="Aptos"/>
              </a:rPr>
              <a:t>SAVED REPORTS  ?  HISTORICAL ARTIFACTS, NOT A NEW BENCHMARK RUN</a:t>
            </a:r>
          </a:p>
        </p:txBody>
      </p:sp>
      <p:sp>
        <p:nvSpPr>
          <p:cNvPr id="8" name="TextBox 7"/>
          <p:cNvSpPr txBox="1"/>
          <p:nvPr/>
        </p:nvSpPr>
        <p:spPr>
          <a:xfrm>
            <a:off x="804672" y="1764792"/>
            <a:ext cx="5303520" cy="310896"/>
          </a:xfrm>
          <a:prstGeom prst="rect">
            <a:avLst/>
          </a:prstGeom>
          <a:noFill/>
        </p:spPr>
        <p:txBody>
          <a:bodyPr wrap="square" lIns="27432" rIns="27432" tIns="27432" bIns="27432" anchor="t">
            <a:spAutoFit/>
          </a:bodyPr>
          <a:lstStyle/>
          <a:p>
            <a:pPr algn="l">
              <a:spcAft>
                <a:spcPts val="200"/>
              </a:spcAft>
            </a:pPr>
            <a:r>
              <a:rPr sz="1100" b="1">
                <a:solidFill>
                  <a:srgbClr val="23D385"/>
                </a:solidFill>
                <a:latin typeface="Aptos"/>
              </a:rPr>
              <a:t>HYBRID RETRIEVAL  |  20 labeled queries</a:t>
            </a:r>
          </a:p>
        </p:txBody>
      </p:sp>
      <p:sp>
        <p:nvSpPr>
          <p:cNvPr id="9" name="Rounded Rectangle 8"/>
          <p:cNvSpPr/>
          <p:nvPr/>
        </p:nvSpPr>
        <p:spPr>
          <a:xfrm>
            <a:off x="804672" y="2212848"/>
            <a:ext cx="1554480" cy="74980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286000"/>
            <a:ext cx="1371600" cy="228600"/>
          </a:xfrm>
          <a:prstGeom prst="rect">
            <a:avLst/>
          </a:prstGeom>
          <a:noFill/>
        </p:spPr>
        <p:txBody>
          <a:bodyPr wrap="square" lIns="27432" rIns="27432" tIns="27432" bIns="27432" anchor="t">
            <a:spAutoFit/>
          </a:bodyPr>
          <a:lstStyle/>
          <a:p>
            <a:pPr algn="l">
              <a:spcAft>
                <a:spcPts val="200"/>
              </a:spcAft>
            </a:pPr>
            <a:r>
              <a:rPr sz="950" b="1">
                <a:solidFill>
                  <a:srgbClr val="B2CDBE"/>
                </a:solidFill>
                <a:latin typeface="Aptos"/>
              </a:rPr>
              <a:t>Precision@1</a:t>
            </a:r>
          </a:p>
        </p:txBody>
      </p:sp>
      <p:sp>
        <p:nvSpPr>
          <p:cNvPr id="11" name="TextBox 10"/>
          <p:cNvSpPr txBox="1"/>
          <p:nvPr/>
        </p:nvSpPr>
        <p:spPr>
          <a:xfrm>
            <a:off x="896112" y="2560320"/>
            <a:ext cx="1371600" cy="292608"/>
          </a:xfrm>
          <a:prstGeom prst="rect">
            <a:avLst/>
          </a:prstGeom>
          <a:noFill/>
        </p:spPr>
        <p:txBody>
          <a:bodyPr wrap="square" lIns="27432" rIns="27432" tIns="27432" bIns="27432" anchor="t">
            <a:spAutoFit/>
          </a:bodyPr>
          <a:lstStyle/>
          <a:p>
            <a:pPr algn="l">
              <a:spcAft>
                <a:spcPts val="200"/>
              </a:spcAft>
            </a:pPr>
            <a:r>
              <a:rPr sz="1500" b="1">
                <a:solidFill>
                  <a:srgbClr val="23D385"/>
                </a:solidFill>
                <a:latin typeface="Aptos"/>
              </a:rPr>
              <a:t>0.9000</a:t>
            </a:r>
          </a:p>
        </p:txBody>
      </p:sp>
      <p:sp>
        <p:nvSpPr>
          <p:cNvPr id="12" name="Rounded Rectangle 11"/>
          <p:cNvSpPr/>
          <p:nvPr/>
        </p:nvSpPr>
        <p:spPr>
          <a:xfrm>
            <a:off x="2542032" y="2212848"/>
            <a:ext cx="1554480" cy="74980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33472" y="2286000"/>
            <a:ext cx="1371600" cy="228600"/>
          </a:xfrm>
          <a:prstGeom prst="rect">
            <a:avLst/>
          </a:prstGeom>
          <a:noFill/>
        </p:spPr>
        <p:txBody>
          <a:bodyPr wrap="square" lIns="27432" rIns="27432" tIns="27432" bIns="27432" anchor="t">
            <a:spAutoFit/>
          </a:bodyPr>
          <a:lstStyle/>
          <a:p>
            <a:pPr algn="l">
              <a:spcAft>
                <a:spcPts val="200"/>
              </a:spcAft>
            </a:pPr>
            <a:r>
              <a:rPr sz="950" b="1">
                <a:solidFill>
                  <a:srgbClr val="B2CDBE"/>
                </a:solidFill>
                <a:latin typeface="Aptos"/>
              </a:rPr>
              <a:t>Precision@3</a:t>
            </a:r>
          </a:p>
        </p:txBody>
      </p:sp>
      <p:sp>
        <p:nvSpPr>
          <p:cNvPr id="14" name="TextBox 13"/>
          <p:cNvSpPr txBox="1"/>
          <p:nvPr/>
        </p:nvSpPr>
        <p:spPr>
          <a:xfrm>
            <a:off x="2633472" y="2560320"/>
            <a:ext cx="1371600" cy="292608"/>
          </a:xfrm>
          <a:prstGeom prst="rect">
            <a:avLst/>
          </a:prstGeom>
          <a:noFill/>
        </p:spPr>
        <p:txBody>
          <a:bodyPr wrap="square" lIns="27432" rIns="27432" tIns="27432" bIns="27432" anchor="t">
            <a:spAutoFit/>
          </a:bodyPr>
          <a:lstStyle/>
          <a:p>
            <a:pPr algn="l">
              <a:spcAft>
                <a:spcPts val="200"/>
              </a:spcAft>
            </a:pPr>
            <a:r>
              <a:rPr sz="1500" b="1">
                <a:solidFill>
                  <a:srgbClr val="23D385"/>
                </a:solidFill>
                <a:latin typeface="Aptos"/>
              </a:rPr>
              <a:t>0.8500</a:t>
            </a:r>
          </a:p>
        </p:txBody>
      </p:sp>
      <p:sp>
        <p:nvSpPr>
          <p:cNvPr id="15" name="Rounded Rectangle 14"/>
          <p:cNvSpPr/>
          <p:nvPr/>
        </p:nvSpPr>
        <p:spPr>
          <a:xfrm>
            <a:off x="4279392" y="2212848"/>
            <a:ext cx="1554480" cy="74980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1" y="2286000"/>
            <a:ext cx="1371600" cy="228600"/>
          </a:xfrm>
          <a:prstGeom prst="rect">
            <a:avLst/>
          </a:prstGeom>
          <a:noFill/>
        </p:spPr>
        <p:txBody>
          <a:bodyPr wrap="square" lIns="27432" rIns="27432" tIns="27432" bIns="27432" anchor="t">
            <a:spAutoFit/>
          </a:bodyPr>
          <a:lstStyle/>
          <a:p>
            <a:pPr algn="l">
              <a:spcAft>
                <a:spcPts val="200"/>
              </a:spcAft>
            </a:pPr>
            <a:r>
              <a:rPr sz="950" b="1">
                <a:solidFill>
                  <a:srgbClr val="B2CDBE"/>
                </a:solidFill>
                <a:latin typeface="Aptos"/>
              </a:rPr>
              <a:t>Precision@5</a:t>
            </a:r>
          </a:p>
        </p:txBody>
      </p:sp>
      <p:sp>
        <p:nvSpPr>
          <p:cNvPr id="17" name="TextBox 16"/>
          <p:cNvSpPr txBox="1"/>
          <p:nvPr/>
        </p:nvSpPr>
        <p:spPr>
          <a:xfrm>
            <a:off x="4370831" y="2560320"/>
            <a:ext cx="1371600" cy="292608"/>
          </a:xfrm>
          <a:prstGeom prst="rect">
            <a:avLst/>
          </a:prstGeom>
          <a:noFill/>
        </p:spPr>
        <p:txBody>
          <a:bodyPr wrap="square" lIns="27432" rIns="27432" tIns="27432" bIns="27432" anchor="t">
            <a:spAutoFit/>
          </a:bodyPr>
          <a:lstStyle/>
          <a:p>
            <a:pPr algn="l">
              <a:spcAft>
                <a:spcPts val="200"/>
              </a:spcAft>
            </a:pPr>
            <a:r>
              <a:rPr sz="1500" b="1">
                <a:solidFill>
                  <a:srgbClr val="23D385"/>
                </a:solidFill>
                <a:latin typeface="Aptos"/>
              </a:rPr>
              <a:t>0.8300</a:t>
            </a:r>
          </a:p>
        </p:txBody>
      </p:sp>
      <p:sp>
        <p:nvSpPr>
          <p:cNvPr id="18" name="Rounded Rectangle 17"/>
          <p:cNvSpPr/>
          <p:nvPr/>
        </p:nvSpPr>
        <p:spPr>
          <a:xfrm>
            <a:off x="804672" y="3145536"/>
            <a:ext cx="1554480" cy="74980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3218688"/>
            <a:ext cx="1371600" cy="228600"/>
          </a:xfrm>
          <a:prstGeom prst="rect">
            <a:avLst/>
          </a:prstGeom>
          <a:noFill/>
        </p:spPr>
        <p:txBody>
          <a:bodyPr wrap="square" lIns="27432" rIns="27432" tIns="27432" bIns="27432" anchor="t">
            <a:spAutoFit/>
          </a:bodyPr>
          <a:lstStyle/>
          <a:p>
            <a:pPr algn="l">
              <a:spcAft>
                <a:spcPts val="200"/>
              </a:spcAft>
            </a:pPr>
            <a:r>
              <a:rPr sz="950" b="1">
                <a:solidFill>
                  <a:srgbClr val="B2CDBE"/>
                </a:solidFill>
                <a:latin typeface="Aptos"/>
              </a:rPr>
              <a:t>Recall@5</a:t>
            </a:r>
          </a:p>
        </p:txBody>
      </p:sp>
      <p:sp>
        <p:nvSpPr>
          <p:cNvPr id="20" name="TextBox 19"/>
          <p:cNvSpPr txBox="1"/>
          <p:nvPr/>
        </p:nvSpPr>
        <p:spPr>
          <a:xfrm>
            <a:off x="896112" y="3493008"/>
            <a:ext cx="1371600" cy="292608"/>
          </a:xfrm>
          <a:prstGeom prst="rect">
            <a:avLst/>
          </a:prstGeom>
          <a:noFill/>
        </p:spPr>
        <p:txBody>
          <a:bodyPr wrap="square" lIns="27432" rIns="27432" tIns="27432" bIns="27432" anchor="t">
            <a:spAutoFit/>
          </a:bodyPr>
          <a:lstStyle/>
          <a:p>
            <a:pPr algn="l">
              <a:spcAft>
                <a:spcPts val="200"/>
              </a:spcAft>
            </a:pPr>
            <a:r>
              <a:rPr sz="1500" b="1">
                <a:solidFill>
                  <a:srgbClr val="23D385"/>
                </a:solidFill>
                <a:latin typeface="Aptos"/>
              </a:rPr>
              <a:t>0.4183</a:t>
            </a:r>
          </a:p>
        </p:txBody>
      </p:sp>
      <p:sp>
        <p:nvSpPr>
          <p:cNvPr id="21" name="Rounded Rectangle 20"/>
          <p:cNvSpPr/>
          <p:nvPr/>
        </p:nvSpPr>
        <p:spPr>
          <a:xfrm>
            <a:off x="2542032" y="3145536"/>
            <a:ext cx="1554480" cy="74980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33472" y="3218688"/>
            <a:ext cx="1371600" cy="228600"/>
          </a:xfrm>
          <a:prstGeom prst="rect">
            <a:avLst/>
          </a:prstGeom>
          <a:noFill/>
        </p:spPr>
        <p:txBody>
          <a:bodyPr wrap="square" lIns="27432" rIns="27432" tIns="27432" bIns="27432" anchor="t">
            <a:spAutoFit/>
          </a:bodyPr>
          <a:lstStyle/>
          <a:p>
            <a:pPr algn="l">
              <a:spcAft>
                <a:spcPts val="200"/>
              </a:spcAft>
            </a:pPr>
            <a:r>
              <a:rPr sz="950" b="1">
                <a:solidFill>
                  <a:srgbClr val="B2CDBE"/>
                </a:solidFill>
                <a:latin typeface="Aptos"/>
              </a:rPr>
              <a:t>MRR</a:t>
            </a:r>
          </a:p>
        </p:txBody>
      </p:sp>
      <p:sp>
        <p:nvSpPr>
          <p:cNvPr id="23" name="TextBox 22"/>
          <p:cNvSpPr txBox="1"/>
          <p:nvPr/>
        </p:nvSpPr>
        <p:spPr>
          <a:xfrm>
            <a:off x="2633472" y="3493008"/>
            <a:ext cx="1371600" cy="292608"/>
          </a:xfrm>
          <a:prstGeom prst="rect">
            <a:avLst/>
          </a:prstGeom>
          <a:noFill/>
        </p:spPr>
        <p:txBody>
          <a:bodyPr wrap="square" lIns="27432" rIns="27432" tIns="27432" bIns="27432" anchor="t">
            <a:spAutoFit/>
          </a:bodyPr>
          <a:lstStyle/>
          <a:p>
            <a:pPr algn="l">
              <a:spcAft>
                <a:spcPts val="200"/>
              </a:spcAft>
            </a:pPr>
            <a:r>
              <a:rPr sz="1500" b="1">
                <a:solidFill>
                  <a:srgbClr val="23D385"/>
                </a:solidFill>
                <a:latin typeface="Aptos"/>
              </a:rPr>
              <a:t>0.9250</a:t>
            </a:r>
          </a:p>
        </p:txBody>
      </p:sp>
      <p:sp>
        <p:nvSpPr>
          <p:cNvPr id="24" name="Rounded Rectangle 23"/>
          <p:cNvSpPr/>
          <p:nvPr/>
        </p:nvSpPr>
        <p:spPr>
          <a:xfrm>
            <a:off x="4279392" y="3145536"/>
            <a:ext cx="1554480" cy="74980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0831" y="3218688"/>
            <a:ext cx="1371600" cy="228600"/>
          </a:xfrm>
          <a:prstGeom prst="rect">
            <a:avLst/>
          </a:prstGeom>
          <a:noFill/>
        </p:spPr>
        <p:txBody>
          <a:bodyPr wrap="square" lIns="27432" rIns="27432" tIns="27432" bIns="27432" anchor="t">
            <a:spAutoFit/>
          </a:bodyPr>
          <a:lstStyle/>
          <a:p>
            <a:pPr algn="l">
              <a:spcAft>
                <a:spcPts val="200"/>
              </a:spcAft>
            </a:pPr>
            <a:r>
              <a:rPr sz="950" b="1">
                <a:solidFill>
                  <a:srgbClr val="B2CDBE"/>
                </a:solidFill>
                <a:latin typeface="Aptos"/>
              </a:rPr>
              <a:t>Hit rate@5</a:t>
            </a:r>
          </a:p>
        </p:txBody>
      </p:sp>
      <p:sp>
        <p:nvSpPr>
          <p:cNvPr id="26" name="TextBox 25"/>
          <p:cNvSpPr txBox="1"/>
          <p:nvPr/>
        </p:nvSpPr>
        <p:spPr>
          <a:xfrm>
            <a:off x="4370831" y="3493008"/>
            <a:ext cx="1371600" cy="292608"/>
          </a:xfrm>
          <a:prstGeom prst="rect">
            <a:avLst/>
          </a:prstGeom>
          <a:noFill/>
        </p:spPr>
        <p:txBody>
          <a:bodyPr wrap="square" lIns="27432" rIns="27432" tIns="27432" bIns="27432" anchor="t">
            <a:spAutoFit/>
          </a:bodyPr>
          <a:lstStyle/>
          <a:p>
            <a:pPr algn="l">
              <a:spcAft>
                <a:spcPts val="200"/>
              </a:spcAft>
            </a:pPr>
            <a:r>
              <a:rPr sz="1500" b="1">
                <a:solidFill>
                  <a:srgbClr val="23D385"/>
                </a:solidFill>
                <a:latin typeface="Aptos"/>
              </a:rPr>
              <a:t>0.9500</a:t>
            </a:r>
          </a:p>
        </p:txBody>
      </p:sp>
      <p:sp>
        <p:nvSpPr>
          <p:cNvPr id="27" name="TextBox 26"/>
          <p:cNvSpPr txBox="1"/>
          <p:nvPr/>
        </p:nvSpPr>
        <p:spPr>
          <a:xfrm>
            <a:off x="6236208" y="1764792"/>
            <a:ext cx="4800600" cy="310896"/>
          </a:xfrm>
          <a:prstGeom prst="rect">
            <a:avLst/>
          </a:prstGeom>
          <a:noFill/>
        </p:spPr>
        <p:txBody>
          <a:bodyPr wrap="square" lIns="27432" rIns="27432" tIns="27432" bIns="27432" anchor="t">
            <a:spAutoFit/>
          </a:bodyPr>
          <a:lstStyle/>
          <a:p>
            <a:pPr algn="l">
              <a:spcAft>
                <a:spcPts val="200"/>
              </a:spcAft>
            </a:pPr>
            <a:r>
              <a:rPr sz="1100" b="1">
                <a:solidFill>
                  <a:srgbClr val="23D385"/>
                </a:solidFill>
                <a:latin typeface="Aptos"/>
              </a:rPr>
              <a:t>RANDOM FOREST  |  HELD-OUT SYNTHETIC ROWS</a:t>
            </a:r>
          </a:p>
        </p:txBody>
      </p:sp>
      <p:sp>
        <p:nvSpPr>
          <p:cNvPr id="28" name="Rounded Rectangle 27"/>
          <p:cNvSpPr/>
          <p:nvPr/>
        </p:nvSpPr>
        <p:spPr>
          <a:xfrm>
            <a:off x="6236208" y="2212848"/>
            <a:ext cx="2395728" cy="114300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2313432"/>
            <a:ext cx="2103120"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YIELD REGRESSION</a:t>
            </a:r>
          </a:p>
        </p:txBody>
      </p:sp>
      <p:sp>
        <p:nvSpPr>
          <p:cNvPr id="30" name="TextBox 29"/>
          <p:cNvSpPr txBox="1"/>
          <p:nvPr/>
        </p:nvSpPr>
        <p:spPr>
          <a:xfrm>
            <a:off x="6382512" y="2660904"/>
            <a:ext cx="2103120" cy="630936"/>
          </a:xfrm>
          <a:prstGeom prst="rect">
            <a:avLst/>
          </a:prstGeom>
          <a:noFill/>
        </p:spPr>
        <p:txBody>
          <a:bodyPr wrap="square" lIns="27432" rIns="27432" tIns="27432" bIns="27432" anchor="t">
            <a:spAutoFit/>
          </a:bodyPr>
          <a:lstStyle/>
          <a:p>
            <a:pPr algn="l">
              <a:spcAft>
                <a:spcPts val="200"/>
              </a:spcAft>
            </a:pPr>
            <a:r>
              <a:rPr sz="1030" b="0">
                <a:solidFill>
                  <a:srgbClr val="F1F9F4"/>
                </a:solidFill>
                <a:latin typeface="Aptos"/>
              </a:rPr>
              <a:t>R?  0.9876</a:t>
            </a:r>
          </a:p>
          <a:p>
            <a:pPr algn="l">
              <a:spcAft>
                <a:spcPts val="200"/>
              </a:spcAft>
            </a:pPr>
            <a:r>
              <a:rPr sz="1030" b="0">
                <a:solidFill>
                  <a:srgbClr val="F1F9F4"/>
                </a:solidFill>
                <a:latin typeface="Aptos"/>
              </a:rPr>
              <a:t>MAE  0.4992 t/ha</a:t>
            </a:r>
          </a:p>
          <a:p>
            <a:pPr algn="l">
              <a:spcAft>
                <a:spcPts val="200"/>
              </a:spcAft>
            </a:pPr>
            <a:r>
              <a:rPr sz="1030" b="0">
                <a:solidFill>
                  <a:srgbClr val="F1F9F4"/>
                </a:solidFill>
                <a:latin typeface="Aptos"/>
              </a:rPr>
              <a:t>RMSE  1.6865 t/ha</a:t>
            </a:r>
          </a:p>
        </p:txBody>
      </p:sp>
      <p:sp>
        <p:nvSpPr>
          <p:cNvPr id="31" name="Rounded Rectangle 30"/>
          <p:cNvSpPr/>
          <p:nvPr/>
        </p:nvSpPr>
        <p:spPr>
          <a:xfrm>
            <a:off x="8851392" y="2212848"/>
            <a:ext cx="2395728" cy="1143000"/>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97696" y="2313432"/>
            <a:ext cx="2103120"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SUITABILITY CLASSIFIER</a:t>
            </a:r>
          </a:p>
        </p:txBody>
      </p:sp>
      <p:sp>
        <p:nvSpPr>
          <p:cNvPr id="33" name="TextBox 32"/>
          <p:cNvSpPr txBox="1"/>
          <p:nvPr/>
        </p:nvSpPr>
        <p:spPr>
          <a:xfrm>
            <a:off x="8997696" y="2660904"/>
            <a:ext cx="2103120" cy="630936"/>
          </a:xfrm>
          <a:prstGeom prst="rect">
            <a:avLst/>
          </a:prstGeom>
          <a:noFill/>
        </p:spPr>
        <p:txBody>
          <a:bodyPr wrap="square" lIns="27432" rIns="27432" tIns="27432" bIns="27432" anchor="t">
            <a:spAutoFit/>
          </a:bodyPr>
          <a:lstStyle/>
          <a:p>
            <a:pPr algn="l">
              <a:spcAft>
                <a:spcPts val="200"/>
              </a:spcAft>
            </a:pPr>
            <a:r>
              <a:rPr sz="1030" b="0">
                <a:solidFill>
                  <a:srgbClr val="F1F9F4"/>
                </a:solidFill>
                <a:latin typeface="Aptos"/>
              </a:rPr>
              <a:t>Accuracy  0.5533</a:t>
            </a:r>
          </a:p>
          <a:p>
            <a:pPr algn="l">
              <a:spcAft>
                <a:spcPts val="200"/>
              </a:spcAft>
            </a:pPr>
            <a:r>
              <a:rPr sz="1030" b="0">
                <a:solidFill>
                  <a:srgbClr val="F1F9F4"/>
                </a:solidFill>
                <a:latin typeface="Aptos"/>
              </a:rPr>
              <a:t>F1  0.4737</a:t>
            </a:r>
          </a:p>
          <a:p>
            <a:pPr algn="l">
              <a:spcAft>
                <a:spcPts val="200"/>
              </a:spcAft>
            </a:pPr>
            <a:r>
              <a:rPr sz="1030" b="0">
                <a:solidFill>
                  <a:srgbClr val="F1F9F4"/>
                </a:solidFill>
                <a:latin typeface="Aptos"/>
              </a:rPr>
              <a:t>Test rows  300</a:t>
            </a:r>
          </a:p>
        </p:txBody>
      </p:sp>
      <p:sp>
        <p:nvSpPr>
          <p:cNvPr id="34" name="Rounded Rectangle 33"/>
          <p:cNvSpPr/>
          <p:nvPr/>
        </p:nvSpPr>
        <p:spPr>
          <a:xfrm>
            <a:off x="813816" y="4297680"/>
            <a:ext cx="10415016" cy="694944"/>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4389120"/>
            <a:ext cx="10058400" cy="502920"/>
          </a:xfrm>
          <a:prstGeom prst="rect">
            <a:avLst/>
          </a:prstGeom>
          <a:noFill/>
        </p:spPr>
        <p:txBody>
          <a:bodyPr wrap="square" lIns="27432" rIns="27432" tIns="27432" bIns="27432" anchor="ctr">
            <a:spAutoFit/>
          </a:bodyPr>
          <a:lstStyle/>
          <a:p>
            <a:pPr algn="l">
              <a:spcAft>
                <a:spcPts val="200"/>
              </a:spcAft>
            </a:pPr>
            <a:r>
              <a:rPr sz="1060" b="1">
                <a:solidFill>
                  <a:srgbClr val="F1F9F4"/>
                </a:solidFill>
                <a:latin typeface="Aptos"/>
              </a:rPr>
              <a:t>Precision = relevant share at K ? Recall = expected crop labels found ? MRR = rank of first relevant case ? Hit rate = queries with ?1 hit</a:t>
            </a:r>
          </a:p>
        </p:txBody>
      </p:sp>
      <p:sp>
        <p:nvSpPr>
          <p:cNvPr id="36" name="Rounded Rectangle 35"/>
          <p:cNvSpPr/>
          <p:nvPr/>
        </p:nvSpPr>
        <p:spPr>
          <a:xfrm>
            <a:off x="813816" y="5175504"/>
            <a:ext cx="10415016" cy="667512"/>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5257800"/>
            <a:ext cx="10058400" cy="475488"/>
          </a:xfrm>
          <a:prstGeom prst="rect">
            <a:avLst/>
          </a:prstGeom>
          <a:noFill/>
        </p:spPr>
        <p:txBody>
          <a:bodyPr wrap="square" lIns="27432" rIns="27432" tIns="27432" bIns="27432" anchor="ctr">
            <a:spAutoFit/>
          </a:bodyPr>
          <a:lstStyle/>
          <a:p>
            <a:pPr algn="l">
              <a:spcAft>
                <a:spcPts val="200"/>
              </a:spcAft>
            </a:pPr>
            <a:r>
              <a:rPr sz="1060" b="1">
                <a:solidFill>
                  <a:srgbClr val="F7C953"/>
                </a:solidFill>
                <a:latin typeface="Aptos"/>
              </a:rPr>
              <a:t>RAGAS / DeepEval: integrations exist; no saved official judge scores were verified. UI proxy estimates are deterministic and labeled non-official.</a:t>
            </a:r>
          </a:p>
        </p:txBody>
      </p:sp>
      <p:sp>
        <p:nvSpPr>
          <p:cNvPr id="38" name="TextBox 37"/>
          <p:cNvSpPr txBox="1"/>
          <p:nvPr/>
        </p:nvSpPr>
        <p:spPr>
          <a:xfrm>
            <a:off x="822960" y="5934456"/>
            <a:ext cx="10241280" cy="173736"/>
          </a:xfrm>
          <a:prstGeom prst="rect">
            <a:avLst/>
          </a:prstGeom>
          <a:noFill/>
        </p:spPr>
        <p:txBody>
          <a:bodyPr wrap="square" lIns="27432" rIns="27432" tIns="27432" bIns="27432" anchor="t">
            <a:spAutoFit/>
          </a:bodyPr>
          <a:lstStyle/>
          <a:p>
            <a:pPr algn="l">
              <a:spcAft>
                <a:spcPts val="200"/>
              </a:spcAft>
            </a:pPr>
            <a:r>
              <a:rPr sz="869" b="0">
                <a:solidFill>
                  <a:srgbClr val="B2CDBE"/>
                </a:solidFill>
                <a:latin typeface="Aptos"/>
              </a:rPr>
              <a:t>Sources: evaluation/reports/retrieval_evaluation_report.json ? evaluation/reports/ml_metrics.json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Challenges and limitations</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11</a:t>
            </a:r>
          </a:p>
        </p:txBody>
      </p:sp>
      <p:sp>
        <p:nvSpPr>
          <p:cNvPr id="7" name="TextBox 6"/>
          <p:cNvSpPr txBox="1"/>
          <p:nvPr/>
        </p:nvSpPr>
        <p:spPr>
          <a:xfrm>
            <a:off x="804672" y="1389888"/>
            <a:ext cx="4892040" cy="310896"/>
          </a:xfrm>
          <a:prstGeom prst="rect">
            <a:avLst/>
          </a:prstGeom>
          <a:noFill/>
        </p:spPr>
        <p:txBody>
          <a:bodyPr wrap="square" lIns="27432" rIns="27432" tIns="27432" bIns="27432" anchor="t">
            <a:spAutoFit/>
          </a:bodyPr>
          <a:lstStyle/>
          <a:p>
            <a:pPr algn="l">
              <a:spcAft>
                <a:spcPts val="200"/>
              </a:spcAft>
            </a:pPr>
            <a:r>
              <a:rPr sz="1000" b="1">
                <a:solidFill>
                  <a:srgbClr val="23D385"/>
                </a:solidFill>
                <a:latin typeface="Aptos"/>
              </a:rPr>
              <a:t>IMPLEMENTATION CHALLENGE</a:t>
            </a:r>
          </a:p>
        </p:txBody>
      </p:sp>
      <p:sp>
        <p:nvSpPr>
          <p:cNvPr id="8" name="TextBox 7"/>
          <p:cNvSpPr txBox="1"/>
          <p:nvPr/>
        </p:nvSpPr>
        <p:spPr>
          <a:xfrm>
            <a:off x="6291072" y="1389888"/>
            <a:ext cx="4663440" cy="310896"/>
          </a:xfrm>
          <a:prstGeom prst="rect">
            <a:avLst/>
          </a:prstGeom>
          <a:noFill/>
        </p:spPr>
        <p:txBody>
          <a:bodyPr wrap="square" lIns="27432" rIns="27432" tIns="27432" bIns="27432" anchor="t">
            <a:spAutoFit/>
          </a:bodyPr>
          <a:lstStyle/>
          <a:p>
            <a:pPr algn="l">
              <a:spcAft>
                <a:spcPts val="200"/>
              </a:spcAft>
            </a:pPr>
            <a:r>
              <a:rPr sz="1000" b="1">
                <a:solidFill>
                  <a:srgbClr val="F7C953"/>
                </a:solidFill>
                <a:latin typeface="Aptos"/>
              </a:rPr>
              <a:t>RESPONSE / LESSON</a:t>
            </a:r>
          </a:p>
        </p:txBody>
      </p:sp>
      <p:sp>
        <p:nvSpPr>
          <p:cNvPr id="9" name="Rounded Rectangle 8"/>
          <p:cNvSpPr/>
          <p:nvPr/>
        </p:nvSpPr>
        <p:spPr>
          <a:xfrm>
            <a:off x="804672" y="1856231"/>
            <a:ext cx="5047488" cy="6583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965960"/>
            <a:ext cx="4754880" cy="420624"/>
          </a:xfrm>
          <a:prstGeom prst="rect">
            <a:avLst/>
          </a:prstGeom>
          <a:noFill/>
        </p:spPr>
        <p:txBody>
          <a:bodyPr wrap="square" lIns="27432" rIns="27432" tIns="27432" bIns="27432" anchor="ctr">
            <a:spAutoFit/>
          </a:bodyPr>
          <a:lstStyle/>
          <a:p>
            <a:pPr algn="l">
              <a:spcAft>
                <a:spcPts val="200"/>
              </a:spcAft>
            </a:pPr>
            <a:r>
              <a:rPr sz="1120" b="1">
                <a:solidFill>
                  <a:srgbClr val="F1F9F4"/>
                </a:solidFill>
                <a:latin typeface="Aptos"/>
              </a:rPr>
              <a:t>Synthetic data provenance</a:t>
            </a:r>
          </a:p>
        </p:txBody>
      </p:sp>
      <p:sp>
        <p:nvSpPr>
          <p:cNvPr id="11" name="TextBox 10"/>
          <p:cNvSpPr txBox="1"/>
          <p:nvPr/>
        </p:nvSpPr>
        <p:spPr>
          <a:xfrm>
            <a:off x="5897880" y="1956815"/>
            <a:ext cx="274320" cy="384048"/>
          </a:xfrm>
          <a:prstGeom prst="rect">
            <a:avLst/>
          </a:prstGeom>
          <a:noFill/>
        </p:spPr>
        <p:txBody>
          <a:bodyPr wrap="square" lIns="27432" rIns="27432" tIns="27432" bIns="27432" anchor="t">
            <a:spAutoFit/>
          </a:bodyPr>
          <a:lstStyle/>
          <a:p>
            <a:pPr algn="ctr">
              <a:spcAft>
                <a:spcPts val="200"/>
              </a:spcAft>
            </a:pPr>
            <a:r>
              <a:rPr sz="2000" b="1">
                <a:solidFill>
                  <a:srgbClr val="23D385"/>
                </a:solidFill>
                <a:latin typeface="Aptos"/>
              </a:rPr>
              <a:t>?</a:t>
            </a:r>
          </a:p>
        </p:txBody>
      </p:sp>
      <p:sp>
        <p:nvSpPr>
          <p:cNvPr id="12" name="Rounded Rectangle 11"/>
          <p:cNvSpPr/>
          <p:nvPr/>
        </p:nvSpPr>
        <p:spPr>
          <a:xfrm>
            <a:off x="6263640" y="1856231"/>
            <a:ext cx="5029200" cy="658368"/>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947672"/>
            <a:ext cx="4709160" cy="475488"/>
          </a:xfrm>
          <a:prstGeom prst="rect">
            <a:avLst/>
          </a:prstGeom>
          <a:noFill/>
        </p:spPr>
        <p:txBody>
          <a:bodyPr wrap="square" lIns="27432" rIns="27432" tIns="27432" bIns="27432" anchor="ctr">
            <a:spAutoFit/>
          </a:bodyPr>
          <a:lstStyle/>
          <a:p>
            <a:pPr algn="l">
              <a:spcAft>
                <a:spcPts val="200"/>
              </a:spcAft>
            </a:pPr>
            <a:r>
              <a:rPr sz="1030" b="0">
                <a:solidFill>
                  <a:srgbClr val="B2CDBE"/>
                </a:solidFill>
                <a:latin typeface="Aptos"/>
              </a:rPr>
              <a:t>Disclose generated data; treat saved scores as pipeline checks, not field validation.</a:t>
            </a:r>
          </a:p>
        </p:txBody>
      </p:sp>
      <p:sp>
        <p:nvSpPr>
          <p:cNvPr id="14" name="Rounded Rectangle 13"/>
          <p:cNvSpPr/>
          <p:nvPr/>
        </p:nvSpPr>
        <p:spPr>
          <a:xfrm>
            <a:off x="804672" y="2706624"/>
            <a:ext cx="5047488" cy="6583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2816352"/>
            <a:ext cx="4754880" cy="420624"/>
          </a:xfrm>
          <a:prstGeom prst="rect">
            <a:avLst/>
          </a:prstGeom>
          <a:noFill/>
        </p:spPr>
        <p:txBody>
          <a:bodyPr wrap="square" lIns="27432" rIns="27432" tIns="27432" bIns="27432" anchor="ctr">
            <a:spAutoFit/>
          </a:bodyPr>
          <a:lstStyle/>
          <a:p>
            <a:pPr algn="l">
              <a:spcAft>
                <a:spcPts val="200"/>
              </a:spcAft>
            </a:pPr>
            <a:r>
              <a:rPr sz="1120" b="1">
                <a:solidFill>
                  <a:srgbClr val="F1F9F4"/>
                </a:solidFill>
                <a:latin typeface="Aptos"/>
              </a:rPr>
              <a:t>Crop-only relevance labels</a:t>
            </a:r>
          </a:p>
        </p:txBody>
      </p:sp>
      <p:sp>
        <p:nvSpPr>
          <p:cNvPr id="16" name="TextBox 15"/>
          <p:cNvSpPr txBox="1"/>
          <p:nvPr/>
        </p:nvSpPr>
        <p:spPr>
          <a:xfrm>
            <a:off x="5897880" y="2807208"/>
            <a:ext cx="274320" cy="384048"/>
          </a:xfrm>
          <a:prstGeom prst="rect">
            <a:avLst/>
          </a:prstGeom>
          <a:noFill/>
        </p:spPr>
        <p:txBody>
          <a:bodyPr wrap="square" lIns="27432" rIns="27432" tIns="27432" bIns="27432" anchor="t">
            <a:spAutoFit/>
          </a:bodyPr>
          <a:lstStyle/>
          <a:p>
            <a:pPr algn="ctr">
              <a:spcAft>
                <a:spcPts val="200"/>
              </a:spcAft>
            </a:pPr>
            <a:r>
              <a:rPr sz="2000" b="1">
                <a:solidFill>
                  <a:srgbClr val="23D385"/>
                </a:solidFill>
                <a:latin typeface="Aptos"/>
              </a:rPr>
              <a:t>?</a:t>
            </a:r>
          </a:p>
        </p:txBody>
      </p:sp>
      <p:sp>
        <p:nvSpPr>
          <p:cNvPr id="17" name="Rounded Rectangle 16"/>
          <p:cNvSpPr/>
          <p:nvPr/>
        </p:nvSpPr>
        <p:spPr>
          <a:xfrm>
            <a:off x="6263640" y="2706624"/>
            <a:ext cx="5029200" cy="658368"/>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8232" y="2798064"/>
            <a:ext cx="4709160" cy="475488"/>
          </a:xfrm>
          <a:prstGeom prst="rect">
            <a:avLst/>
          </a:prstGeom>
          <a:noFill/>
        </p:spPr>
        <p:txBody>
          <a:bodyPr wrap="square" lIns="27432" rIns="27432" tIns="27432" bIns="27432" anchor="ctr">
            <a:spAutoFit/>
          </a:bodyPr>
          <a:lstStyle/>
          <a:p>
            <a:pPr algn="l">
              <a:spcAft>
                <a:spcPts val="200"/>
              </a:spcAft>
            </a:pPr>
            <a:r>
              <a:rPr sz="1030" b="0">
                <a:solidFill>
                  <a:srgbClr val="B2CDBE"/>
                </a:solidFill>
                <a:latin typeface="Aptos"/>
              </a:rPr>
              <a:t>Compute from explicit labels; mark metrics N/A when ground truth is missing.</a:t>
            </a:r>
          </a:p>
        </p:txBody>
      </p:sp>
      <p:sp>
        <p:nvSpPr>
          <p:cNvPr id="19" name="Rounded Rectangle 18"/>
          <p:cNvSpPr/>
          <p:nvPr/>
        </p:nvSpPr>
        <p:spPr>
          <a:xfrm>
            <a:off x="804672" y="3557015"/>
            <a:ext cx="5047488" cy="6583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 y="3666744"/>
            <a:ext cx="4754880" cy="420624"/>
          </a:xfrm>
          <a:prstGeom prst="rect">
            <a:avLst/>
          </a:prstGeom>
          <a:noFill/>
        </p:spPr>
        <p:txBody>
          <a:bodyPr wrap="square" lIns="27432" rIns="27432" tIns="27432" bIns="27432" anchor="ctr">
            <a:spAutoFit/>
          </a:bodyPr>
          <a:lstStyle/>
          <a:p>
            <a:pPr algn="l">
              <a:spcAft>
                <a:spcPts val="200"/>
              </a:spcAft>
            </a:pPr>
            <a:r>
              <a:rPr sz="1120" b="1">
                <a:solidFill>
                  <a:srgbClr val="F1F9F4"/>
                </a:solidFill>
                <a:latin typeface="Aptos"/>
              </a:rPr>
              <a:t>Provider network / credit failures</a:t>
            </a:r>
          </a:p>
        </p:txBody>
      </p:sp>
      <p:sp>
        <p:nvSpPr>
          <p:cNvPr id="21" name="TextBox 20"/>
          <p:cNvSpPr txBox="1"/>
          <p:nvPr/>
        </p:nvSpPr>
        <p:spPr>
          <a:xfrm>
            <a:off x="5897880" y="3657599"/>
            <a:ext cx="274320" cy="384048"/>
          </a:xfrm>
          <a:prstGeom prst="rect">
            <a:avLst/>
          </a:prstGeom>
          <a:noFill/>
        </p:spPr>
        <p:txBody>
          <a:bodyPr wrap="square" lIns="27432" rIns="27432" tIns="27432" bIns="27432" anchor="t">
            <a:spAutoFit/>
          </a:bodyPr>
          <a:lstStyle/>
          <a:p>
            <a:pPr algn="ctr">
              <a:spcAft>
                <a:spcPts val="200"/>
              </a:spcAft>
            </a:pPr>
            <a:r>
              <a:rPr sz="2000" b="1">
                <a:solidFill>
                  <a:srgbClr val="23D385"/>
                </a:solidFill>
                <a:latin typeface="Aptos"/>
              </a:rPr>
              <a:t>?</a:t>
            </a:r>
          </a:p>
        </p:txBody>
      </p:sp>
      <p:sp>
        <p:nvSpPr>
          <p:cNvPr id="22" name="Rounded Rectangle 21"/>
          <p:cNvSpPr/>
          <p:nvPr/>
        </p:nvSpPr>
        <p:spPr>
          <a:xfrm>
            <a:off x="6263640" y="3557015"/>
            <a:ext cx="5029200" cy="658368"/>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3648456"/>
            <a:ext cx="4709160" cy="475488"/>
          </a:xfrm>
          <a:prstGeom prst="rect">
            <a:avLst/>
          </a:prstGeom>
          <a:noFill/>
        </p:spPr>
        <p:txBody>
          <a:bodyPr wrap="square" lIns="27432" rIns="27432" tIns="27432" bIns="27432" anchor="ctr">
            <a:spAutoFit/>
          </a:bodyPr>
          <a:lstStyle/>
          <a:p>
            <a:pPr algn="l">
              <a:spcAft>
                <a:spcPts val="200"/>
              </a:spcAft>
            </a:pPr>
            <a:r>
              <a:rPr sz="1030" b="0">
                <a:solidFill>
                  <a:srgbClr val="B2CDBE"/>
                </a:solidFill>
                <a:latin typeface="Aptos"/>
              </a:rPr>
              <a:t>Keep retrieval separate; hide traces; use brief warnings and labeled estimates.</a:t>
            </a:r>
          </a:p>
        </p:txBody>
      </p:sp>
      <p:sp>
        <p:nvSpPr>
          <p:cNvPr id="24" name="Rounded Rectangle 23"/>
          <p:cNvSpPr/>
          <p:nvPr/>
        </p:nvSpPr>
        <p:spPr>
          <a:xfrm>
            <a:off x="804672" y="4407408"/>
            <a:ext cx="5047488" cy="65836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 y="4517136"/>
            <a:ext cx="4754880" cy="420624"/>
          </a:xfrm>
          <a:prstGeom prst="rect">
            <a:avLst/>
          </a:prstGeom>
          <a:noFill/>
        </p:spPr>
        <p:txBody>
          <a:bodyPr wrap="square" lIns="27432" rIns="27432" tIns="27432" bIns="27432" anchor="ctr">
            <a:spAutoFit/>
          </a:bodyPr>
          <a:lstStyle/>
          <a:p>
            <a:pPr algn="l">
              <a:spcAft>
                <a:spcPts val="200"/>
              </a:spcAft>
            </a:pPr>
            <a:r>
              <a:rPr sz="1120" b="1">
                <a:solidFill>
                  <a:srgbClr val="F1F9F4"/>
                </a:solidFill>
                <a:latin typeface="Aptos"/>
              </a:rPr>
              <a:t>Retrieval relevance varies</a:t>
            </a:r>
          </a:p>
        </p:txBody>
      </p:sp>
      <p:sp>
        <p:nvSpPr>
          <p:cNvPr id="26" name="TextBox 25"/>
          <p:cNvSpPr txBox="1"/>
          <p:nvPr/>
        </p:nvSpPr>
        <p:spPr>
          <a:xfrm>
            <a:off x="5897880" y="4507992"/>
            <a:ext cx="274320" cy="384048"/>
          </a:xfrm>
          <a:prstGeom prst="rect">
            <a:avLst/>
          </a:prstGeom>
          <a:noFill/>
        </p:spPr>
        <p:txBody>
          <a:bodyPr wrap="square" lIns="27432" rIns="27432" tIns="27432" bIns="27432" anchor="t">
            <a:spAutoFit/>
          </a:bodyPr>
          <a:lstStyle/>
          <a:p>
            <a:pPr algn="ctr">
              <a:spcAft>
                <a:spcPts val="200"/>
              </a:spcAft>
            </a:pPr>
            <a:r>
              <a:rPr sz="2000" b="1">
                <a:solidFill>
                  <a:srgbClr val="23D385"/>
                </a:solidFill>
                <a:latin typeface="Aptos"/>
              </a:rPr>
              <a:t>?</a:t>
            </a:r>
          </a:p>
        </p:txBody>
      </p:sp>
      <p:sp>
        <p:nvSpPr>
          <p:cNvPr id="27" name="Rounded Rectangle 26"/>
          <p:cNvSpPr/>
          <p:nvPr/>
        </p:nvSpPr>
        <p:spPr>
          <a:xfrm>
            <a:off x="6263640" y="4407408"/>
            <a:ext cx="5029200" cy="658368"/>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4498848"/>
            <a:ext cx="4709160" cy="475488"/>
          </a:xfrm>
          <a:prstGeom prst="rect">
            <a:avLst/>
          </a:prstGeom>
          <a:noFill/>
        </p:spPr>
        <p:txBody>
          <a:bodyPr wrap="square" lIns="27432" rIns="27432" tIns="27432" bIns="27432" anchor="ctr">
            <a:spAutoFit/>
          </a:bodyPr>
          <a:lstStyle/>
          <a:p>
            <a:pPr algn="l">
              <a:spcAft>
                <a:spcPts val="200"/>
              </a:spcAft>
            </a:pPr>
            <a:r>
              <a:rPr sz="1030" b="0">
                <a:solidFill>
                  <a:srgbClr val="B2CDBE"/>
                </a:solidFill>
                <a:latin typeface="Aptos"/>
              </a:rPr>
              <a:t>Inspect cases; expand expert labels for crop, region, season and conditions.</a:t>
            </a:r>
          </a:p>
        </p:txBody>
      </p:sp>
      <p:sp>
        <p:nvSpPr>
          <p:cNvPr id="29" name="Rounded Rectangle 28"/>
          <p:cNvSpPr/>
          <p:nvPr/>
        </p:nvSpPr>
        <p:spPr>
          <a:xfrm>
            <a:off x="822960" y="5422392"/>
            <a:ext cx="10442448" cy="51206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7552" y="5504688"/>
            <a:ext cx="10058400" cy="329184"/>
          </a:xfrm>
          <a:prstGeom prst="rect">
            <a:avLst/>
          </a:prstGeom>
          <a:noFill/>
        </p:spPr>
        <p:txBody>
          <a:bodyPr wrap="square" lIns="27432" rIns="27432" tIns="27432" bIns="27432" anchor="ctr">
            <a:spAutoFit/>
          </a:bodyPr>
          <a:lstStyle/>
          <a:p>
            <a:pPr algn="l">
              <a:spcAft>
                <a:spcPts val="200"/>
              </a:spcAft>
            </a:pPr>
            <a:r>
              <a:rPr sz="1070" b="1">
                <a:solidFill>
                  <a:srgbClr val="23D385"/>
                </a:solidFill>
                <a:latin typeface="Aptos"/>
              </a:rPr>
              <a:t>The UI distinguishes official judge scores, deterministic proxy estimates and unavailable results.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txBox="1"/>
          <p:nvPr/>
        </p:nvSpPr>
        <p:spPr>
          <a:xfrm>
            <a:off x="0" y="0"/>
            <a:ext cx="12192000" cy="6858000"/>
          </a:xfrm>
          <a:prstGeom prst="rect">
            <a:avLst/>
          </a:prstGeom>
          <a:solidFill>
            <a:srgbClr val="06190F"/>
          </a:solidFill>
          <a:ln>
            <a:noFill/>
          </a:ln>
        </p:spPr>
        <p:txBody>
          <a:bodyPr wrap="square" lIns="140000" rIns="140000" tIns="100000" bIns="100000"/>
          <a:lstStyle/>
          <a:p>
            <a:pPr/>
            <a:r>
              <a:rPr lang="en-US" sz="1800" b="0">
                <a:solidFill>
                  <a:srgbClr val="FFFFFF"/>
                </a:solidFill>
                <a:latin typeface="Aptos"/>
              </a:rPr>
              <a:t/>
            </a:r>
          </a:p>
        </p:txBody>
      </p:sp>
      <p:sp>
        <p:nvSpPr>
          <p:cNvPr id="3" name="Accent"/>
          <p:cNvSpPr txBox="1"/>
          <p:nvPr/>
        </p:nvSpPr>
        <p:spPr>
          <a:xfrm>
            <a:off x="0" y="0"/>
            <a:ext cx="260000" cy="6858000"/>
          </a:xfrm>
          <a:prstGeom prst="rect">
            <a:avLst/>
          </a:prstGeom>
          <a:solidFill>
            <a:srgbClr val="18B56A"/>
          </a:solidFill>
          <a:ln>
            <a:noFill/>
          </a:ln>
        </p:spPr>
        <p:txBody>
          <a:bodyPr wrap="square" lIns="140000" rIns="140000" tIns="100000" bIns="100000"/>
          <a:lstStyle/>
          <a:p>
            <a:pPr/>
            <a:r>
              <a:rPr lang="en-US" sz="1800" b="0">
                <a:solidFill>
                  <a:srgbClr val="FFFFFF"/>
                </a:solidFill>
                <a:latin typeface="Aptos"/>
              </a:rPr>
              <a:t/>
            </a:r>
          </a:p>
        </p:txBody>
      </p:sp>
      <p:sp>
        <p:nvSpPr>
          <p:cNvPr id="4" name="Title"/>
          <p:cNvSpPr txBox="1"/>
          <p:nvPr/>
        </p:nvSpPr>
        <p:spPr>
          <a:xfrm>
            <a:off x="520000" y="400000"/>
            <a:ext cx="11000000" cy="900000"/>
          </a:xfrm>
          <a:prstGeom prst="rect">
            <a:avLst/>
          </a:prstGeom>
          <a:noFill/>
          <a:ln>
            <a:noFill/>
          </a:ln>
        </p:spPr>
        <p:txBody>
          <a:bodyPr wrap="square" lIns="140000" rIns="140000" tIns="100000" bIns="100000"/>
          <a:lstStyle/>
          <a:p>
            <a:pPr/>
            <a:r>
              <a:rPr lang="en-US" sz="2900" b="1">
                <a:solidFill>
                  <a:srgbClr val="F1F9F4"/>
                </a:solidFill>
                <a:latin typeface="Aptos Display"/>
              </a:rPr>
              <a:t>Learnings and next steps</a:t>
            </a:r>
          </a:p>
        </p:txBody>
      </p:sp>
      <p:sp>
        <p:nvSpPr>
          <p:cNvPr id="6" name="Footer"/>
          <p:cNvSpPr txBox="1"/>
          <p:nvPr/>
        </p:nvSpPr>
        <p:spPr>
          <a:xfrm>
            <a:off x="520000" y="6300000"/>
            <a:ext cx="10000000" cy="350000"/>
          </a:xfrm>
          <a:prstGeom prst="rect">
            <a:avLst/>
          </a:prstGeom>
          <a:noFill/>
          <a:ln>
            <a:noFill/>
          </a:ln>
        </p:spPr>
        <p:txBody>
          <a:bodyPr wrap="square" lIns="140000" rIns="140000" tIns="100000" bIns="100000"/>
          <a:lstStyle/>
          <a:p>
            <a:pPr/>
            <a:r>
              <a:rPr sz="900">
                <a:solidFill>
                  <a:srgbClr val="B2CDBE"/>
                </a:solidFill>
                <a:latin typeface="Aptos"/>
              </a:rPr>
              <a:t>CropShield AI  |  Capstone review                                      12</a:t>
            </a:r>
          </a:p>
        </p:txBody>
      </p:sp>
      <p:sp>
        <p:nvSpPr>
          <p:cNvPr id="7" name="TextBox 6"/>
          <p:cNvSpPr txBox="1"/>
          <p:nvPr/>
        </p:nvSpPr>
        <p:spPr>
          <a:xfrm>
            <a:off x="804672" y="1408176"/>
            <a:ext cx="10332720" cy="411480"/>
          </a:xfrm>
          <a:prstGeom prst="rect">
            <a:avLst/>
          </a:prstGeom>
          <a:noFill/>
        </p:spPr>
        <p:txBody>
          <a:bodyPr wrap="square" lIns="27432" rIns="27432" tIns="27432" bIns="27432" anchor="t">
            <a:spAutoFit/>
          </a:bodyPr>
          <a:lstStyle/>
          <a:p>
            <a:pPr algn="l">
              <a:spcAft>
                <a:spcPts val="200"/>
              </a:spcAft>
            </a:pPr>
            <a:r>
              <a:rPr sz="1700" b="1">
                <a:solidFill>
                  <a:srgbClr val="F1F9F4"/>
                </a:solidFill>
                <a:latin typeface="Aptos"/>
              </a:rPr>
              <a:t>Move from a working prototype to defensible field evidence</a:t>
            </a:r>
          </a:p>
        </p:txBody>
      </p:sp>
      <p:sp>
        <p:nvSpPr>
          <p:cNvPr id="8" name="Rounded Rectangle 7"/>
          <p:cNvSpPr/>
          <p:nvPr/>
        </p:nvSpPr>
        <p:spPr>
          <a:xfrm>
            <a:off x="832104" y="2057400"/>
            <a:ext cx="566928"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5256" y="2066543"/>
            <a:ext cx="420623" cy="274320"/>
          </a:xfrm>
          <a:prstGeom prst="rect">
            <a:avLst/>
          </a:prstGeom>
          <a:noFill/>
        </p:spPr>
        <p:txBody>
          <a:bodyPr wrap="square" lIns="9144" rIns="9144" tIns="9144" bIns="9144" anchor="ctr">
            <a:spAutoFit/>
          </a:bodyPr>
          <a:lstStyle/>
          <a:p>
            <a:pPr algn="ctr">
              <a:spcAft>
                <a:spcPts val="200"/>
              </a:spcAft>
            </a:pPr>
            <a:r>
              <a:rPr sz="950" b="1">
                <a:solidFill>
                  <a:srgbClr val="23D385"/>
                </a:solidFill>
                <a:latin typeface="Aptos"/>
              </a:rPr>
              <a:t>01</a:t>
            </a:r>
          </a:p>
        </p:txBody>
      </p:sp>
      <p:sp>
        <p:nvSpPr>
          <p:cNvPr id="10" name="TextBox 9"/>
          <p:cNvSpPr txBox="1"/>
          <p:nvPr/>
        </p:nvSpPr>
        <p:spPr>
          <a:xfrm>
            <a:off x="1627632" y="2048256"/>
            <a:ext cx="2889504" cy="329184"/>
          </a:xfrm>
          <a:prstGeom prst="rect">
            <a:avLst/>
          </a:prstGeom>
          <a:noFill/>
        </p:spPr>
        <p:txBody>
          <a:bodyPr wrap="square" lIns="27432" rIns="27432" tIns="27432" bIns="27432" anchor="ctr">
            <a:spAutoFit/>
          </a:bodyPr>
          <a:lstStyle/>
          <a:p>
            <a:pPr algn="l">
              <a:spcAft>
                <a:spcPts val="200"/>
              </a:spcAft>
            </a:pPr>
            <a:r>
              <a:rPr sz="1180" b="1">
                <a:solidFill>
                  <a:srgbClr val="F1F9F4"/>
                </a:solidFill>
                <a:latin typeface="Aptos"/>
              </a:rPr>
              <a:t>Replace synthetic records</a:t>
            </a:r>
          </a:p>
        </p:txBody>
      </p:sp>
      <p:sp>
        <p:nvSpPr>
          <p:cNvPr id="11" name="TextBox 10"/>
          <p:cNvSpPr txBox="1"/>
          <p:nvPr/>
        </p:nvSpPr>
        <p:spPr>
          <a:xfrm>
            <a:off x="4599432" y="2048256"/>
            <a:ext cx="6565392" cy="475488"/>
          </a:xfrm>
          <a:prstGeom prst="rect">
            <a:avLst/>
          </a:prstGeom>
          <a:noFill/>
        </p:spPr>
        <p:txBody>
          <a:bodyPr wrap="square" lIns="27432" rIns="27432" tIns="27432" bIns="27432" anchor="ctr">
            <a:spAutoFit/>
          </a:bodyPr>
          <a:lstStyle/>
          <a:p>
            <a:pPr algn="l">
              <a:spcAft>
                <a:spcPts val="200"/>
              </a:spcAft>
            </a:pPr>
            <a:r>
              <a:rPr sz="1080" b="0">
                <a:solidFill>
                  <a:srgbClr val="B2CDBE"/>
                </a:solidFill>
                <a:latin typeface="Aptos"/>
              </a:rPr>
              <a:t>Use licensed, regionally representative and quality-checked agricultural data.</a:t>
            </a:r>
          </a:p>
        </p:txBody>
      </p:sp>
      <p:sp>
        <p:nvSpPr>
          <p:cNvPr id="12" name="Rounded Rectangle 11"/>
          <p:cNvSpPr/>
          <p:nvPr/>
        </p:nvSpPr>
        <p:spPr>
          <a:xfrm>
            <a:off x="832104" y="2825496"/>
            <a:ext cx="566928"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2834639"/>
            <a:ext cx="420623" cy="274320"/>
          </a:xfrm>
          <a:prstGeom prst="rect">
            <a:avLst/>
          </a:prstGeom>
          <a:noFill/>
        </p:spPr>
        <p:txBody>
          <a:bodyPr wrap="square" lIns="9144" rIns="9144" tIns="9144" bIns="9144" anchor="ctr">
            <a:spAutoFit/>
          </a:bodyPr>
          <a:lstStyle/>
          <a:p>
            <a:pPr algn="ctr">
              <a:spcAft>
                <a:spcPts val="200"/>
              </a:spcAft>
            </a:pPr>
            <a:r>
              <a:rPr sz="950" b="1">
                <a:solidFill>
                  <a:srgbClr val="23D385"/>
                </a:solidFill>
                <a:latin typeface="Aptos"/>
              </a:rPr>
              <a:t>02</a:t>
            </a:r>
          </a:p>
        </p:txBody>
      </p:sp>
      <p:sp>
        <p:nvSpPr>
          <p:cNvPr id="14" name="TextBox 13"/>
          <p:cNvSpPr txBox="1"/>
          <p:nvPr/>
        </p:nvSpPr>
        <p:spPr>
          <a:xfrm>
            <a:off x="1627632" y="2816352"/>
            <a:ext cx="2889504" cy="329184"/>
          </a:xfrm>
          <a:prstGeom prst="rect">
            <a:avLst/>
          </a:prstGeom>
          <a:noFill/>
        </p:spPr>
        <p:txBody>
          <a:bodyPr wrap="square" lIns="27432" rIns="27432" tIns="27432" bIns="27432" anchor="ctr">
            <a:spAutoFit/>
          </a:bodyPr>
          <a:lstStyle/>
          <a:p>
            <a:pPr algn="l">
              <a:spcAft>
                <a:spcPts val="200"/>
              </a:spcAft>
            </a:pPr>
            <a:r>
              <a:rPr sz="1180" b="1">
                <a:solidFill>
                  <a:srgbClr val="F1F9F4"/>
                </a:solidFill>
                <a:latin typeface="Aptos"/>
              </a:rPr>
              <a:t>Improve relevance ground truth</a:t>
            </a:r>
          </a:p>
        </p:txBody>
      </p:sp>
      <p:sp>
        <p:nvSpPr>
          <p:cNvPr id="15" name="TextBox 14"/>
          <p:cNvSpPr txBox="1"/>
          <p:nvPr/>
        </p:nvSpPr>
        <p:spPr>
          <a:xfrm>
            <a:off x="4599432" y="2816352"/>
            <a:ext cx="6565392" cy="475488"/>
          </a:xfrm>
          <a:prstGeom prst="rect">
            <a:avLst/>
          </a:prstGeom>
          <a:noFill/>
        </p:spPr>
        <p:txBody>
          <a:bodyPr wrap="square" lIns="27432" rIns="27432" tIns="27432" bIns="27432" anchor="ctr">
            <a:spAutoFit/>
          </a:bodyPr>
          <a:lstStyle/>
          <a:p>
            <a:pPr algn="l">
              <a:spcAft>
                <a:spcPts val="200"/>
              </a:spcAft>
            </a:pPr>
            <a:r>
              <a:rPr sz="1080" b="0">
                <a:solidFill>
                  <a:srgbClr val="B2CDBE"/>
                </a:solidFill>
                <a:latin typeface="Aptos"/>
              </a:rPr>
              <a:t>Ask agronomists to label crop, state, season and condition fit.</a:t>
            </a:r>
          </a:p>
        </p:txBody>
      </p:sp>
      <p:sp>
        <p:nvSpPr>
          <p:cNvPr id="16" name="Rounded Rectangle 15"/>
          <p:cNvSpPr/>
          <p:nvPr/>
        </p:nvSpPr>
        <p:spPr>
          <a:xfrm>
            <a:off x="832104" y="3593591"/>
            <a:ext cx="566928"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 y="3602735"/>
            <a:ext cx="420623" cy="274320"/>
          </a:xfrm>
          <a:prstGeom prst="rect">
            <a:avLst/>
          </a:prstGeom>
          <a:noFill/>
        </p:spPr>
        <p:txBody>
          <a:bodyPr wrap="square" lIns="9144" rIns="9144" tIns="9144" bIns="9144" anchor="ctr">
            <a:spAutoFit/>
          </a:bodyPr>
          <a:lstStyle/>
          <a:p>
            <a:pPr algn="ctr">
              <a:spcAft>
                <a:spcPts val="200"/>
              </a:spcAft>
            </a:pPr>
            <a:r>
              <a:rPr sz="950" b="1">
                <a:solidFill>
                  <a:srgbClr val="F7C953"/>
                </a:solidFill>
                <a:latin typeface="Aptos"/>
              </a:rPr>
              <a:t>03</a:t>
            </a:r>
          </a:p>
        </p:txBody>
      </p:sp>
      <p:sp>
        <p:nvSpPr>
          <p:cNvPr id="18" name="TextBox 17"/>
          <p:cNvSpPr txBox="1"/>
          <p:nvPr/>
        </p:nvSpPr>
        <p:spPr>
          <a:xfrm>
            <a:off x="1627632" y="3584448"/>
            <a:ext cx="2889504" cy="329184"/>
          </a:xfrm>
          <a:prstGeom prst="rect">
            <a:avLst/>
          </a:prstGeom>
          <a:noFill/>
        </p:spPr>
        <p:txBody>
          <a:bodyPr wrap="square" lIns="27432" rIns="27432" tIns="27432" bIns="27432" anchor="ctr">
            <a:spAutoFit/>
          </a:bodyPr>
          <a:lstStyle/>
          <a:p>
            <a:pPr algn="l">
              <a:spcAft>
                <a:spcPts val="200"/>
              </a:spcAft>
            </a:pPr>
            <a:r>
              <a:rPr sz="1180" b="1">
                <a:solidFill>
                  <a:srgbClr val="F1F9F4"/>
                </a:solidFill>
                <a:latin typeface="Aptos"/>
              </a:rPr>
              <a:t>Complete live judge evaluation</a:t>
            </a:r>
          </a:p>
        </p:txBody>
      </p:sp>
      <p:sp>
        <p:nvSpPr>
          <p:cNvPr id="19" name="TextBox 18"/>
          <p:cNvSpPr txBox="1"/>
          <p:nvPr/>
        </p:nvSpPr>
        <p:spPr>
          <a:xfrm>
            <a:off x="4599432" y="3584448"/>
            <a:ext cx="6565392" cy="475488"/>
          </a:xfrm>
          <a:prstGeom prst="rect">
            <a:avLst/>
          </a:prstGeom>
          <a:noFill/>
        </p:spPr>
        <p:txBody>
          <a:bodyPr wrap="square" lIns="27432" rIns="27432" tIns="27432" bIns="27432" anchor="ctr">
            <a:spAutoFit/>
          </a:bodyPr>
          <a:lstStyle/>
          <a:p>
            <a:pPr algn="l">
              <a:spcAft>
                <a:spcPts val="200"/>
              </a:spcAft>
            </a:pPr>
            <a:r>
              <a:rPr sz="1080" b="0">
                <a:solidFill>
                  <a:srgbClr val="B2CDBE"/>
                </a:solidFill>
                <a:latin typeface="Aptos"/>
              </a:rPr>
              <a:t>Use a reachable, funded provider; save official RAGAS / DeepEval results.</a:t>
            </a:r>
          </a:p>
        </p:txBody>
      </p:sp>
      <p:sp>
        <p:nvSpPr>
          <p:cNvPr id="20" name="Rounded Rectangle 19"/>
          <p:cNvSpPr/>
          <p:nvPr/>
        </p:nvSpPr>
        <p:spPr>
          <a:xfrm>
            <a:off x="832104" y="4361688"/>
            <a:ext cx="566928"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5256" y="4370831"/>
            <a:ext cx="420623" cy="274320"/>
          </a:xfrm>
          <a:prstGeom prst="rect">
            <a:avLst/>
          </a:prstGeom>
          <a:noFill/>
        </p:spPr>
        <p:txBody>
          <a:bodyPr wrap="square" lIns="9144" rIns="9144" tIns="9144" bIns="9144" anchor="ctr">
            <a:spAutoFit/>
          </a:bodyPr>
          <a:lstStyle/>
          <a:p>
            <a:pPr algn="ctr">
              <a:spcAft>
                <a:spcPts val="200"/>
              </a:spcAft>
            </a:pPr>
            <a:r>
              <a:rPr sz="950" b="1">
                <a:solidFill>
                  <a:srgbClr val="23D385"/>
                </a:solidFill>
                <a:latin typeface="Aptos"/>
              </a:rPr>
              <a:t>04</a:t>
            </a:r>
          </a:p>
        </p:txBody>
      </p:sp>
      <p:sp>
        <p:nvSpPr>
          <p:cNvPr id="22" name="TextBox 21"/>
          <p:cNvSpPr txBox="1"/>
          <p:nvPr/>
        </p:nvSpPr>
        <p:spPr>
          <a:xfrm>
            <a:off x="1627632" y="4352544"/>
            <a:ext cx="2889504" cy="329184"/>
          </a:xfrm>
          <a:prstGeom prst="rect">
            <a:avLst/>
          </a:prstGeom>
          <a:noFill/>
        </p:spPr>
        <p:txBody>
          <a:bodyPr wrap="square" lIns="27432" rIns="27432" tIns="27432" bIns="27432" anchor="ctr">
            <a:spAutoFit/>
          </a:bodyPr>
          <a:lstStyle/>
          <a:p>
            <a:pPr algn="l">
              <a:spcAft>
                <a:spcPts val="200"/>
              </a:spcAft>
            </a:pPr>
            <a:r>
              <a:rPr sz="1180" b="1">
                <a:solidFill>
                  <a:srgbClr val="F1F9F4"/>
                </a:solidFill>
                <a:latin typeface="Aptos"/>
              </a:rPr>
              <a:t>Validate model generalization</a:t>
            </a:r>
          </a:p>
        </p:txBody>
      </p:sp>
      <p:sp>
        <p:nvSpPr>
          <p:cNvPr id="23" name="TextBox 22"/>
          <p:cNvSpPr txBox="1"/>
          <p:nvPr/>
        </p:nvSpPr>
        <p:spPr>
          <a:xfrm>
            <a:off x="4599432" y="4352544"/>
            <a:ext cx="6565392" cy="475488"/>
          </a:xfrm>
          <a:prstGeom prst="rect">
            <a:avLst/>
          </a:prstGeom>
          <a:noFill/>
        </p:spPr>
        <p:txBody>
          <a:bodyPr wrap="square" lIns="27432" rIns="27432" tIns="27432" bIns="27432" anchor="ctr">
            <a:spAutoFit/>
          </a:bodyPr>
          <a:lstStyle/>
          <a:p>
            <a:pPr algn="l">
              <a:spcAft>
                <a:spcPts val="200"/>
              </a:spcAft>
            </a:pPr>
            <a:r>
              <a:rPr sz="1080" b="0">
                <a:solidFill>
                  <a:srgbClr val="B2CDBE"/>
                </a:solidFill>
                <a:latin typeface="Aptos"/>
              </a:rPr>
              <a:t>Test on real held-out regional records; review error and interval calibration.</a:t>
            </a:r>
          </a:p>
        </p:txBody>
      </p:sp>
      <p:sp>
        <p:nvSpPr>
          <p:cNvPr id="24" name="Rounded Rectangle 23"/>
          <p:cNvSpPr/>
          <p:nvPr/>
        </p:nvSpPr>
        <p:spPr>
          <a:xfrm>
            <a:off x="832104" y="5431536"/>
            <a:ext cx="10405872" cy="621792"/>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13832"/>
            <a:ext cx="10058400" cy="420624"/>
          </a:xfrm>
          <a:prstGeom prst="rect">
            <a:avLst/>
          </a:prstGeom>
          <a:noFill/>
        </p:spPr>
        <p:txBody>
          <a:bodyPr wrap="square" lIns="27432" rIns="27432" tIns="27432" bIns="27432" anchor="ctr">
            <a:spAutoFit/>
          </a:bodyPr>
          <a:lstStyle/>
          <a:p>
            <a:pPr algn="ctr">
              <a:spcAft>
                <a:spcPts val="200"/>
              </a:spcAft>
            </a:pPr>
            <a:r>
              <a:rPr sz="1500" b="1">
                <a:solidFill>
                  <a:srgbClr val="23D385"/>
                </a:solidFill>
                <a:latin typeface="Aptos"/>
              </a:rPr>
              <a:t>Thank you  ?  Questions and reviewer feedback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190F"/>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18B5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21207" y="384048"/>
            <a:ext cx="11064240" cy="658368"/>
          </a:xfrm>
          <a:prstGeom prst="rect">
            <a:avLst/>
          </a:prstGeom>
          <a:noFill/>
        </p:spPr>
        <p:txBody>
          <a:bodyPr wrap="square" lIns="27432" rIns="27432" tIns="27432" bIns="27432" anchor="t">
            <a:spAutoFit/>
          </a:bodyPr>
          <a:lstStyle/>
          <a:p>
            <a:pPr algn="l">
              <a:spcAft>
                <a:spcPts val="200"/>
              </a:spcAft>
            </a:pPr>
            <a:r>
              <a:rPr sz="2900" b="1">
                <a:solidFill>
                  <a:srgbClr val="F1F9F4"/>
                </a:solidFill>
                <a:latin typeface="Aptos"/>
              </a:rPr>
              <a:t>End-to-end demo</a:t>
            </a:r>
          </a:p>
        </p:txBody>
      </p:sp>
      <p:sp>
        <p:nvSpPr>
          <p:cNvPr id="4" name="TextBox 3"/>
          <p:cNvSpPr txBox="1"/>
          <p:nvPr/>
        </p:nvSpPr>
        <p:spPr>
          <a:xfrm>
            <a:off x="658368" y="6327648"/>
            <a:ext cx="9966960" cy="256032"/>
          </a:xfrm>
          <a:prstGeom prst="rect">
            <a:avLst/>
          </a:prstGeom>
          <a:noFill/>
        </p:spPr>
        <p:txBody>
          <a:bodyPr wrap="square" lIns="27432" rIns="27432" tIns="27432" bIns="27432" anchor="t">
            <a:spAutoFit/>
          </a:bodyPr>
          <a:lstStyle/>
          <a:p>
            <a:pPr algn="l">
              <a:spcAft>
                <a:spcPts val="200"/>
              </a:spcAft>
            </a:pPr>
            <a:r>
              <a:rPr sz="900" b="0">
                <a:solidFill>
                  <a:srgbClr val="B2CDBE"/>
                </a:solidFill>
                <a:latin typeface="Aptos"/>
              </a:rPr>
              <a:t>CropShield AI  |  Capstone review                                      09</a:t>
            </a:r>
          </a:p>
        </p:txBody>
      </p:sp>
      <p:sp>
        <p:nvSpPr>
          <p:cNvPr id="5" name="Rounded Rectangle 4"/>
          <p:cNvSpPr/>
          <p:nvPr/>
        </p:nvSpPr>
        <p:spPr>
          <a:xfrm>
            <a:off x="9180576" y="1261872"/>
            <a:ext cx="2029968" cy="310896"/>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53728" y="1271016"/>
            <a:ext cx="1883664" cy="274320"/>
          </a:xfrm>
          <a:prstGeom prst="rect">
            <a:avLst/>
          </a:prstGeom>
          <a:noFill/>
        </p:spPr>
        <p:txBody>
          <a:bodyPr wrap="square" lIns="9144" rIns="9144" tIns="9144" bIns="9144" anchor="ctr">
            <a:spAutoFit/>
          </a:bodyPr>
          <a:lstStyle/>
          <a:p>
            <a:pPr algn="ctr">
              <a:spcAft>
                <a:spcPts val="200"/>
              </a:spcAft>
            </a:pPr>
            <a:r>
              <a:rPr sz="950" b="1">
                <a:solidFill>
                  <a:srgbClr val="F7C953"/>
                </a:solidFill>
                <a:latin typeface="Aptos"/>
              </a:rPr>
              <a:t>ILLUSTRATIVE UI MOCK-UP</a:t>
            </a:r>
          </a:p>
        </p:txBody>
      </p:sp>
      <p:sp>
        <p:nvSpPr>
          <p:cNvPr id="7" name="TextBox 6"/>
          <p:cNvSpPr txBox="1"/>
          <p:nvPr/>
        </p:nvSpPr>
        <p:spPr>
          <a:xfrm>
            <a:off x="777240" y="1316736"/>
            <a:ext cx="8183879" cy="347472"/>
          </a:xfrm>
          <a:prstGeom prst="rect">
            <a:avLst/>
          </a:prstGeom>
          <a:noFill/>
        </p:spPr>
        <p:txBody>
          <a:bodyPr wrap="square" lIns="27432" rIns="27432" tIns="27432" bIns="27432" anchor="t">
            <a:spAutoFit/>
          </a:bodyPr>
          <a:lstStyle/>
          <a:p>
            <a:pPr algn="l">
              <a:spcAft>
                <a:spcPts val="200"/>
              </a:spcAft>
            </a:pPr>
            <a:r>
              <a:rPr sz="1000" b="1">
                <a:solidFill>
                  <a:srgbClr val="F7C953"/>
                </a:solidFill>
                <a:latin typeface="Aptos"/>
              </a:rPr>
              <a:t>REAL LOCAL PIPELINE OUTPUT  ?  SYNTHETIC CASE DATA</a:t>
            </a:r>
          </a:p>
        </p:txBody>
      </p:sp>
      <p:sp>
        <p:nvSpPr>
          <p:cNvPr id="8" name="Rounded Rectangle 7"/>
          <p:cNvSpPr/>
          <p:nvPr/>
        </p:nvSpPr>
        <p:spPr>
          <a:xfrm>
            <a:off x="786384" y="1801368"/>
            <a:ext cx="10661904" cy="667512"/>
          </a:xfrm>
          <a:prstGeom prst="roundRect">
            <a:avLst/>
          </a:prstGeom>
          <a:solidFill>
            <a:srgbClr val="0A2A1C"/>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901952"/>
            <a:ext cx="10241280" cy="448056"/>
          </a:xfrm>
          <a:prstGeom prst="rect">
            <a:avLst/>
          </a:prstGeom>
          <a:noFill/>
        </p:spPr>
        <p:txBody>
          <a:bodyPr wrap="square" lIns="27432" rIns="27432" tIns="27432" bIns="27432" anchor="ctr">
            <a:spAutoFit/>
          </a:bodyPr>
          <a:lstStyle/>
          <a:p>
            <a:pPr algn="l">
              <a:spcAft>
                <a:spcPts val="200"/>
              </a:spcAft>
            </a:pPr>
            <a:r>
              <a:rPr sz="1400" b="1">
                <a:solidFill>
                  <a:srgbClr val="F1F9F4"/>
                </a:solidFill>
                <a:latin typeface="Aptos"/>
              </a:rPr>
              <a:t>?Recommend a crop for Odisha during Kharif with pH 6.5 and high rainfall.?</a:t>
            </a:r>
          </a:p>
        </p:txBody>
      </p:sp>
      <p:sp>
        <p:nvSpPr>
          <p:cNvPr id="10" name="TextBox 9"/>
          <p:cNvSpPr txBox="1"/>
          <p:nvPr/>
        </p:nvSpPr>
        <p:spPr>
          <a:xfrm>
            <a:off x="822960" y="2660904"/>
            <a:ext cx="5029200" cy="320040"/>
          </a:xfrm>
          <a:prstGeom prst="rect">
            <a:avLst/>
          </a:prstGeom>
          <a:noFill/>
        </p:spPr>
        <p:txBody>
          <a:bodyPr wrap="square" lIns="27432" rIns="27432" tIns="27432" bIns="27432" anchor="t">
            <a:spAutoFit/>
          </a:bodyPr>
          <a:lstStyle/>
          <a:p>
            <a:pPr algn="l">
              <a:spcAft>
                <a:spcPts val="200"/>
              </a:spcAft>
            </a:pPr>
            <a:r>
              <a:rPr sz="1100" b="1">
                <a:solidFill>
                  <a:srgbClr val="23D385"/>
                </a:solidFill>
                <a:latin typeface="Aptos"/>
              </a:rPr>
              <a:t>TOP RETRIEVED HISTORICAL CASES</a:t>
            </a:r>
          </a:p>
        </p:txBody>
      </p:sp>
      <p:graphicFrame>
        <p:nvGraphicFramePr>
          <p:cNvPr id="11" name="Table 10"/>
          <p:cNvGraphicFramePr>
            <a:graphicFrameLocks noGrp="1"/>
          </p:cNvGraphicFramePr>
          <p:nvPr/>
        </p:nvGraphicFramePr>
        <p:xfrm>
          <a:off x="804672" y="3035808"/>
          <a:ext cx="6437376" cy="1572768"/>
        </p:xfrm>
        <a:graphic>
          <a:graphicData uri="http://schemas.openxmlformats.org/drawingml/2006/table">
            <a:tbl>
              <a:tblPr firstRow="1" bandRow="1">
                <a:tableStyleId>{5C22544A-7EE6-4342-B048-85BDC9FD1C3A}</a:tableStyleId>
              </a:tblPr>
              <a:tblGrid>
                <a:gridCol w="502920"/>
                <a:gridCol w="1353312"/>
                <a:gridCol w="987552"/>
                <a:gridCol w="2606040"/>
                <a:gridCol w="987552"/>
              </a:tblGrid>
              <a:tr h="393192">
                <a:tc>
                  <a:txBody>
                    <a:bodyPr/>
                    <a:lstStyle/>
                    <a:p>
                      <a:r>
                        <a:rPr sz="900" b="1">
                          <a:solidFill>
                            <a:srgbClr val="F1F9F4"/>
                          </a:solidFill>
                          <a:latin typeface="Aptos"/>
                        </a:rPr>
                        <a:t>Rank</a:t>
                      </a:r>
                    </a:p>
                  </a:txBody>
                  <a:tcPr marL="64008" marR="36576" marT="32004" marB="22860">
                    <a:solidFill>
                      <a:srgbClr val="18B56A"/>
                    </a:solidFill>
                  </a:tcPr>
                </a:tc>
                <a:tc>
                  <a:txBody>
                    <a:bodyPr/>
                    <a:lstStyle/>
                    <a:p>
                      <a:r>
                        <a:rPr sz="900" b="1">
                          <a:solidFill>
                            <a:srgbClr val="F1F9F4"/>
                          </a:solidFill>
                          <a:latin typeface="Aptos"/>
                        </a:rPr>
                        <a:t>Case</a:t>
                      </a:r>
                    </a:p>
                  </a:txBody>
                  <a:tcPr marL="64008" marR="36576" marT="32004" marB="22860">
                    <a:solidFill>
                      <a:srgbClr val="18B56A"/>
                    </a:solidFill>
                  </a:tcPr>
                </a:tc>
                <a:tc>
                  <a:txBody>
                    <a:bodyPr/>
                    <a:lstStyle/>
                    <a:p>
                      <a:r>
                        <a:rPr sz="900" b="1">
                          <a:solidFill>
                            <a:srgbClr val="F1F9F4"/>
                          </a:solidFill>
                          <a:latin typeface="Aptos"/>
                        </a:rPr>
                        <a:t>Crop</a:t>
                      </a:r>
                    </a:p>
                  </a:txBody>
                  <a:tcPr marL="64008" marR="36576" marT="32004" marB="22860">
                    <a:solidFill>
                      <a:srgbClr val="18B56A"/>
                    </a:solidFill>
                  </a:tcPr>
                </a:tc>
                <a:tc>
                  <a:txBody>
                    <a:bodyPr/>
                    <a:lstStyle/>
                    <a:p>
                      <a:r>
                        <a:rPr sz="900" b="1">
                          <a:solidFill>
                            <a:srgbClr val="F1F9F4"/>
                          </a:solidFill>
                          <a:latin typeface="Aptos"/>
                        </a:rPr>
                        <a:t>Region / season</a:t>
                      </a:r>
                    </a:p>
                  </a:txBody>
                  <a:tcPr marL="64008" marR="36576" marT="32004" marB="22860">
                    <a:solidFill>
                      <a:srgbClr val="18B56A"/>
                    </a:solidFill>
                  </a:tcPr>
                </a:tc>
                <a:tc>
                  <a:txBody>
                    <a:bodyPr/>
                    <a:lstStyle/>
                    <a:p>
                      <a:r>
                        <a:rPr sz="900" b="1">
                          <a:solidFill>
                            <a:srgbClr val="F1F9F4"/>
                          </a:solidFill>
                          <a:latin typeface="Aptos"/>
                        </a:rPr>
                        <a:t>Yield t/ha</a:t>
                      </a:r>
                    </a:p>
                  </a:txBody>
                  <a:tcPr marL="64008" marR="36576" marT="32004" marB="22860">
                    <a:solidFill>
                      <a:srgbClr val="18B56A"/>
                    </a:solidFill>
                  </a:tcPr>
                </a:tc>
              </a:tr>
              <a:tr h="393192">
                <a:tc>
                  <a:txBody>
                    <a:bodyPr/>
                    <a:lstStyle/>
                    <a:p>
                      <a:r>
                        <a:rPr sz="919" b="0">
                          <a:solidFill>
                            <a:srgbClr val="B2CDBE"/>
                          </a:solidFill>
                          <a:latin typeface="Aptos"/>
                        </a:rPr>
                        <a:t>1</a:t>
                      </a:r>
                    </a:p>
                  </a:txBody>
                  <a:tcPr marL="64008" marR="36576" marT="32004" marB="22860">
                    <a:solidFill>
                      <a:srgbClr val="0A2A1C"/>
                    </a:solidFill>
                  </a:tcPr>
                </a:tc>
                <a:tc>
                  <a:txBody>
                    <a:bodyPr/>
                    <a:lstStyle/>
                    <a:p>
                      <a:r>
                        <a:rPr sz="919" b="0">
                          <a:solidFill>
                            <a:srgbClr val="B2CDBE"/>
                          </a:solidFill>
                          <a:latin typeface="Aptos"/>
                        </a:rPr>
                        <a:t>CASE_0557</a:t>
                      </a:r>
                    </a:p>
                  </a:txBody>
                  <a:tcPr marL="64008" marR="36576" marT="32004" marB="22860">
                    <a:solidFill>
                      <a:srgbClr val="0A2A1C"/>
                    </a:solidFill>
                  </a:tcPr>
                </a:tc>
                <a:tc>
                  <a:txBody>
                    <a:bodyPr/>
                    <a:lstStyle/>
                    <a:p>
                      <a:r>
                        <a:rPr sz="919" b="0">
                          <a:solidFill>
                            <a:srgbClr val="B2CDBE"/>
                          </a:solidFill>
                          <a:latin typeface="Aptos"/>
                        </a:rPr>
                        <a:t>Jute</a:t>
                      </a:r>
                    </a:p>
                  </a:txBody>
                  <a:tcPr marL="64008" marR="36576" marT="32004" marB="22860">
                    <a:solidFill>
                      <a:srgbClr val="0A2A1C"/>
                    </a:solidFill>
                  </a:tcPr>
                </a:tc>
                <a:tc>
                  <a:txBody>
                    <a:bodyPr/>
                    <a:lstStyle/>
                    <a:p>
                      <a:r>
                        <a:rPr sz="919" b="0">
                          <a:solidFill>
                            <a:srgbClr val="B2CDBE"/>
                          </a:solidFill>
                          <a:latin typeface="Aptos"/>
                        </a:rPr>
                        <a:t>Odisha ? Kharif 2012</a:t>
                      </a:r>
                    </a:p>
                  </a:txBody>
                  <a:tcPr marL="64008" marR="36576" marT="32004" marB="22860">
                    <a:solidFill>
                      <a:srgbClr val="0A2A1C"/>
                    </a:solidFill>
                  </a:tcPr>
                </a:tc>
                <a:tc>
                  <a:txBody>
                    <a:bodyPr/>
                    <a:lstStyle/>
                    <a:p>
                      <a:r>
                        <a:rPr sz="919" b="0">
                          <a:solidFill>
                            <a:srgbClr val="B2CDBE"/>
                          </a:solidFill>
                          <a:latin typeface="Aptos"/>
                        </a:rPr>
                        <a:t>2.26</a:t>
                      </a:r>
                    </a:p>
                  </a:txBody>
                  <a:tcPr marL="64008" marR="36576" marT="32004" marB="22860">
                    <a:solidFill>
                      <a:srgbClr val="0A2A1C"/>
                    </a:solidFill>
                  </a:tcPr>
                </a:tc>
              </a:tr>
              <a:tr h="393192">
                <a:tc>
                  <a:txBody>
                    <a:bodyPr/>
                    <a:lstStyle/>
                    <a:p>
                      <a:r>
                        <a:rPr sz="919" b="0">
                          <a:solidFill>
                            <a:srgbClr val="B2CDBE"/>
                          </a:solidFill>
                          <a:latin typeface="Aptos"/>
                        </a:rPr>
                        <a:t>2</a:t>
                      </a:r>
                    </a:p>
                  </a:txBody>
                  <a:tcPr marL="64008" marR="36576" marT="32004" marB="22860">
                    <a:solidFill>
                      <a:srgbClr val="0D3323"/>
                    </a:solidFill>
                  </a:tcPr>
                </a:tc>
                <a:tc>
                  <a:txBody>
                    <a:bodyPr/>
                    <a:lstStyle/>
                    <a:p>
                      <a:r>
                        <a:rPr sz="919" b="0">
                          <a:solidFill>
                            <a:srgbClr val="B2CDBE"/>
                          </a:solidFill>
                          <a:latin typeface="Aptos"/>
                        </a:rPr>
                        <a:t>CASE_0363</a:t>
                      </a:r>
                    </a:p>
                  </a:txBody>
                  <a:tcPr marL="64008" marR="36576" marT="32004" marB="22860">
                    <a:solidFill>
                      <a:srgbClr val="0D3323"/>
                    </a:solidFill>
                  </a:tcPr>
                </a:tc>
                <a:tc>
                  <a:txBody>
                    <a:bodyPr/>
                    <a:lstStyle/>
                    <a:p>
                      <a:r>
                        <a:rPr sz="919" b="0">
                          <a:solidFill>
                            <a:srgbClr val="B2CDBE"/>
                          </a:solidFill>
                          <a:latin typeface="Aptos"/>
                        </a:rPr>
                        <a:t>Rice</a:t>
                      </a:r>
                    </a:p>
                  </a:txBody>
                  <a:tcPr marL="64008" marR="36576" marT="32004" marB="22860">
                    <a:solidFill>
                      <a:srgbClr val="0D3323"/>
                    </a:solidFill>
                  </a:tcPr>
                </a:tc>
                <a:tc>
                  <a:txBody>
                    <a:bodyPr/>
                    <a:lstStyle/>
                    <a:p>
                      <a:r>
                        <a:rPr sz="919" b="0">
                          <a:solidFill>
                            <a:srgbClr val="B2CDBE"/>
                          </a:solidFill>
                          <a:latin typeface="Aptos"/>
                        </a:rPr>
                        <a:t>Odisha ? Kharif 2018</a:t>
                      </a:r>
                    </a:p>
                  </a:txBody>
                  <a:tcPr marL="64008" marR="36576" marT="32004" marB="22860">
                    <a:solidFill>
                      <a:srgbClr val="0D3323"/>
                    </a:solidFill>
                  </a:tcPr>
                </a:tc>
                <a:tc>
                  <a:txBody>
                    <a:bodyPr/>
                    <a:lstStyle/>
                    <a:p>
                      <a:r>
                        <a:rPr sz="919" b="0">
                          <a:solidFill>
                            <a:srgbClr val="B2CDBE"/>
                          </a:solidFill>
                          <a:latin typeface="Aptos"/>
                        </a:rPr>
                        <a:t>3.43</a:t>
                      </a:r>
                    </a:p>
                  </a:txBody>
                  <a:tcPr marL="64008" marR="36576" marT="32004" marB="22860">
                    <a:solidFill>
                      <a:srgbClr val="0D3323"/>
                    </a:solidFill>
                  </a:tcPr>
                </a:tc>
              </a:tr>
              <a:tr h="393192">
                <a:tc>
                  <a:txBody>
                    <a:bodyPr/>
                    <a:lstStyle/>
                    <a:p>
                      <a:r>
                        <a:rPr sz="919" b="0">
                          <a:solidFill>
                            <a:srgbClr val="B2CDBE"/>
                          </a:solidFill>
                          <a:latin typeface="Aptos"/>
                        </a:rPr>
                        <a:t>3</a:t>
                      </a:r>
                    </a:p>
                  </a:txBody>
                  <a:tcPr marL="64008" marR="36576" marT="32004" marB="22860">
                    <a:solidFill>
                      <a:srgbClr val="0A2A1C"/>
                    </a:solidFill>
                  </a:tcPr>
                </a:tc>
                <a:tc>
                  <a:txBody>
                    <a:bodyPr/>
                    <a:lstStyle/>
                    <a:p>
                      <a:r>
                        <a:rPr sz="919" b="0">
                          <a:solidFill>
                            <a:srgbClr val="B2CDBE"/>
                          </a:solidFill>
                          <a:latin typeface="Aptos"/>
                        </a:rPr>
                        <a:t>CASE_1426</a:t>
                      </a:r>
                    </a:p>
                  </a:txBody>
                  <a:tcPr marL="64008" marR="36576" marT="32004" marB="22860">
                    <a:solidFill>
                      <a:srgbClr val="0A2A1C"/>
                    </a:solidFill>
                  </a:tcPr>
                </a:tc>
                <a:tc>
                  <a:txBody>
                    <a:bodyPr/>
                    <a:lstStyle/>
                    <a:p>
                      <a:r>
                        <a:rPr sz="919" b="0">
                          <a:solidFill>
                            <a:srgbClr val="B2CDBE"/>
                          </a:solidFill>
                          <a:latin typeface="Aptos"/>
                        </a:rPr>
                        <a:t>Rice</a:t>
                      </a:r>
                    </a:p>
                  </a:txBody>
                  <a:tcPr marL="64008" marR="36576" marT="32004" marB="22860">
                    <a:solidFill>
                      <a:srgbClr val="0A2A1C"/>
                    </a:solidFill>
                  </a:tcPr>
                </a:tc>
                <a:tc>
                  <a:txBody>
                    <a:bodyPr/>
                    <a:lstStyle/>
                    <a:p>
                      <a:r>
                        <a:rPr sz="919" b="0">
                          <a:solidFill>
                            <a:srgbClr val="B2CDBE"/>
                          </a:solidFill>
                          <a:latin typeface="Aptos"/>
                        </a:rPr>
                        <a:t>Odisha ? Kharif 2012</a:t>
                      </a:r>
                    </a:p>
                  </a:txBody>
                  <a:tcPr marL="64008" marR="36576" marT="32004" marB="22860">
                    <a:solidFill>
                      <a:srgbClr val="0A2A1C"/>
                    </a:solidFill>
                  </a:tcPr>
                </a:tc>
                <a:tc>
                  <a:txBody>
                    <a:bodyPr/>
                    <a:lstStyle/>
                    <a:p>
                      <a:r>
                        <a:rPr sz="919" b="0">
                          <a:solidFill>
                            <a:srgbClr val="B2CDBE"/>
                          </a:solidFill>
                          <a:latin typeface="Aptos"/>
                        </a:rPr>
                        <a:t>3.64</a:t>
                      </a:r>
                    </a:p>
                  </a:txBody>
                  <a:tcPr marL="64008" marR="36576" marT="32004" marB="22860">
                    <a:solidFill>
                      <a:srgbClr val="0A2A1C"/>
                    </a:solidFill>
                  </a:tcPr>
                </a:tc>
              </a:tr>
            </a:tbl>
          </a:graphicData>
        </a:graphic>
      </p:graphicFrame>
      <p:sp>
        <p:nvSpPr>
          <p:cNvPr id="12" name="Rounded Rectangle 11"/>
          <p:cNvSpPr/>
          <p:nvPr/>
        </p:nvSpPr>
        <p:spPr>
          <a:xfrm>
            <a:off x="7772400" y="2852928"/>
            <a:ext cx="3611880" cy="969264"/>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18704" y="2953512"/>
            <a:ext cx="3319272" cy="320040"/>
          </a:xfrm>
          <a:prstGeom prst="rect">
            <a:avLst/>
          </a:prstGeom>
          <a:noFill/>
        </p:spPr>
        <p:txBody>
          <a:bodyPr wrap="square" lIns="27432" rIns="27432" tIns="27432" bIns="27432" anchor="t">
            <a:spAutoFit/>
          </a:bodyPr>
          <a:lstStyle/>
          <a:p>
            <a:pPr algn="l">
              <a:spcAft>
                <a:spcPts val="200"/>
              </a:spcAft>
            </a:pPr>
            <a:r>
              <a:rPr sz="1300" b="1">
                <a:solidFill>
                  <a:srgbClr val="23D385"/>
                </a:solidFill>
                <a:latin typeface="Aptos"/>
              </a:rPr>
              <a:t>RECOMMENDATION</a:t>
            </a:r>
          </a:p>
        </p:txBody>
      </p:sp>
      <p:sp>
        <p:nvSpPr>
          <p:cNvPr id="14" name="TextBox 13"/>
          <p:cNvSpPr txBox="1"/>
          <p:nvPr/>
        </p:nvSpPr>
        <p:spPr>
          <a:xfrm>
            <a:off x="7918704" y="3300984"/>
            <a:ext cx="3319272" cy="457200"/>
          </a:xfrm>
          <a:prstGeom prst="rect">
            <a:avLst/>
          </a:prstGeom>
          <a:noFill/>
        </p:spPr>
        <p:txBody>
          <a:bodyPr wrap="square" lIns="27432" rIns="27432" tIns="27432" bIns="27432" anchor="t">
            <a:spAutoFit/>
          </a:bodyPr>
          <a:lstStyle/>
          <a:p>
            <a:pPr algn="l">
              <a:spcAft>
                <a:spcPts val="200"/>
              </a:spcAft>
            </a:pPr>
            <a:r>
              <a:rPr sz="1120" b="0">
                <a:solidFill>
                  <a:srgbClr val="F1F9F4"/>
                </a:solidFill>
                <a:latin typeface="Aptos"/>
              </a:rPr>
              <a:t>Rice ? Suitable (0.61)</a:t>
            </a:r>
          </a:p>
          <a:p>
            <a:pPr algn="l">
              <a:spcAft>
                <a:spcPts val="200"/>
              </a:spcAft>
            </a:pPr>
            <a:r>
              <a:rPr sz="1120" b="0">
                <a:solidFill>
                  <a:srgbClr val="F1F9F4"/>
                </a:solidFill>
                <a:latin typeface="Aptos"/>
              </a:rPr>
              <a:t>Jute ? Suitable (0.59)</a:t>
            </a:r>
          </a:p>
        </p:txBody>
      </p:sp>
      <p:sp>
        <p:nvSpPr>
          <p:cNvPr id="15" name="Rounded Rectangle 14"/>
          <p:cNvSpPr/>
          <p:nvPr/>
        </p:nvSpPr>
        <p:spPr>
          <a:xfrm>
            <a:off x="7772400" y="3986784"/>
            <a:ext cx="3611880" cy="93268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18704" y="4087368"/>
            <a:ext cx="3319272" cy="320040"/>
          </a:xfrm>
          <a:prstGeom prst="rect">
            <a:avLst/>
          </a:prstGeom>
          <a:noFill/>
        </p:spPr>
        <p:txBody>
          <a:bodyPr wrap="square" lIns="27432" rIns="27432" tIns="27432" bIns="27432" anchor="t">
            <a:spAutoFit/>
          </a:bodyPr>
          <a:lstStyle/>
          <a:p>
            <a:pPr algn="l">
              <a:spcAft>
                <a:spcPts val="200"/>
              </a:spcAft>
            </a:pPr>
            <a:r>
              <a:rPr sz="1300" b="1">
                <a:solidFill>
                  <a:srgbClr val="F7C953"/>
                </a:solidFill>
                <a:latin typeface="Aptos"/>
              </a:rPr>
              <a:t>YIELD MODEL OUTPUT</a:t>
            </a:r>
          </a:p>
        </p:txBody>
      </p:sp>
      <p:sp>
        <p:nvSpPr>
          <p:cNvPr id="17" name="TextBox 16"/>
          <p:cNvSpPr txBox="1"/>
          <p:nvPr/>
        </p:nvSpPr>
        <p:spPr>
          <a:xfrm>
            <a:off x="7918704" y="4434840"/>
            <a:ext cx="3319272" cy="420623"/>
          </a:xfrm>
          <a:prstGeom prst="rect">
            <a:avLst/>
          </a:prstGeom>
          <a:noFill/>
        </p:spPr>
        <p:txBody>
          <a:bodyPr wrap="square" lIns="27432" rIns="27432" tIns="27432" bIns="27432" anchor="t">
            <a:spAutoFit/>
          </a:bodyPr>
          <a:lstStyle/>
          <a:p>
            <a:pPr algn="l">
              <a:spcAft>
                <a:spcPts val="200"/>
              </a:spcAft>
            </a:pPr>
            <a:r>
              <a:rPr sz="1120" b="0">
                <a:solidFill>
                  <a:srgbClr val="F1F9F4"/>
                </a:solidFill>
                <a:latin typeface="Aptos"/>
              </a:rPr>
              <a:t>Rice: 3.45 t/ha</a:t>
            </a:r>
          </a:p>
          <a:p>
            <a:pPr algn="l">
              <a:spcAft>
                <a:spcPts val="200"/>
              </a:spcAft>
            </a:pPr>
            <a:r>
              <a:rPr sz="1120" b="0">
                <a:solidFill>
                  <a:srgbClr val="F1F9F4"/>
                </a:solidFill>
                <a:latin typeface="Aptos"/>
              </a:rPr>
              <a:t>Approx. 80% interval: 2.98?3.92</a:t>
            </a:r>
          </a:p>
        </p:txBody>
      </p:sp>
      <p:sp>
        <p:nvSpPr>
          <p:cNvPr id="18" name="Rounded Rectangle 17"/>
          <p:cNvSpPr/>
          <p:nvPr/>
        </p:nvSpPr>
        <p:spPr>
          <a:xfrm>
            <a:off x="822960" y="4910328"/>
            <a:ext cx="10561320" cy="749808"/>
          </a:xfrm>
          <a:prstGeom prst="roundRect">
            <a:avLst/>
          </a:prstGeom>
          <a:solidFill>
            <a:srgbClr val="0D3323"/>
          </a:solidFill>
          <a:ln w="10160">
            <a:solidFill>
              <a:srgbClr val="1F66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010912"/>
            <a:ext cx="10149840" cy="521207"/>
          </a:xfrm>
          <a:prstGeom prst="rect">
            <a:avLst/>
          </a:prstGeom>
          <a:noFill/>
        </p:spPr>
        <p:txBody>
          <a:bodyPr wrap="square" lIns="27432" rIns="27432" tIns="27432" bIns="27432" anchor="t">
            <a:spAutoFit/>
          </a:bodyPr>
          <a:lstStyle/>
          <a:p>
            <a:pPr algn="l">
              <a:spcAft>
                <a:spcPts val="200"/>
              </a:spcAft>
            </a:pPr>
            <a:r>
              <a:rPr sz="1120" b="0">
                <a:solidFill>
                  <a:srgbClr val="F1F9F4"/>
                </a:solidFill>
                <a:latin typeface="Aptos"/>
              </a:rPr>
              <a:t>Assembled advisory: Rice is the top recommendation, supported by two retrieved Odisha/Kharif cases. Review conditions and limitations; outputs are not guarantees.</a:t>
            </a:r>
          </a:p>
        </p:txBody>
      </p:sp>
      <p:sp>
        <p:nvSpPr>
          <p:cNvPr id="20" name="TextBox 19"/>
          <p:cNvSpPr txBox="1"/>
          <p:nvPr/>
        </p:nvSpPr>
        <p:spPr>
          <a:xfrm>
            <a:off x="832104" y="5797296"/>
            <a:ext cx="10332720" cy="256032"/>
          </a:xfrm>
          <a:prstGeom prst="rect">
            <a:avLst/>
          </a:prstGeom>
          <a:noFill/>
        </p:spPr>
        <p:txBody>
          <a:bodyPr wrap="square" lIns="27432" rIns="27432" tIns="27432" bIns="27432" anchor="t">
            <a:spAutoFit/>
          </a:bodyPr>
          <a:lstStyle/>
          <a:p>
            <a:pPr algn="l">
              <a:spcAft>
                <a:spcPts val="200"/>
              </a:spcAft>
            </a:pPr>
            <a:r>
              <a:rPr sz="940" b="0">
                <a:solidFill>
                  <a:srgbClr val="B2CDBE"/>
                </a:solidFill>
                <a:latin typeface="Aptos"/>
              </a:rPr>
              <a:t>Observed local run: 11 Oct 2026 ? actual retrieval + trained model ? synthetic dataset ? not an application screenshot</a:t>
            </a:r>
          </a:p>
        </p:txBody>
      </p:sp>
    </p:spTree>
  </p:cSld>
  <p:clrMapOvr>
    <a:masterClrMapping/>
  </p:clrMapOvr>
</p:sld>
</file>

<file path=ppt/theme/theme1.xml><?xml version="1.0" encoding="utf-8"?>
<a:theme xmlns:a="http://schemas.openxmlformats.org/drawingml/2006/main" name="CropShield">
  <a:themeElements>
    <a:clrScheme name="CropShield">
      <a:dk1>
        <a:srgbClr val="06190F"/>
      </a:dk1>
      <a:lt1>
        <a:srgbClr val="FFFFFF"/>
      </a:lt1>
      <a:dk2>
        <a:srgbClr val="143A2A"/>
      </a:dk2>
      <a:lt2>
        <a:srgbClr val="E8F5ED"/>
      </a:lt2>
      <a:accent1>
        <a:srgbClr val="18B56A"/>
      </a:accent1>
      <a:accent2>
        <a:srgbClr val="C9E7D5"/>
      </a:accent2>
      <a:accent3>
        <a:srgbClr val="08794D"/>
      </a:accent3>
      <a:accent4>
        <a:srgbClr val="F3C969"/>
      </a:accent4>
      <a:accent5>
        <a:srgbClr val="4788B8"/>
      </a:accent5>
      <a:accent6>
        <a:srgbClr val="53665C"/>
      </a:accent6>
      <a:hlink>
        <a:srgbClr val="18B56A"/>
      </a:hlink>
      <a:folHlink>
        <a:srgbClr val="08794D"/>
      </a:folHlink>
    </a:clrScheme>
    <a:fontScheme name="CropShield">
      <a:majorFont>
        <a:latin typeface="Aptos Display"/>
      </a:majorFont>
      <a:minorFont>
        <a:latin typeface="Aptos"/>
      </a:minorFont>
    </a:fontScheme>
    <a:fmtScheme name="CropShield">
      <a:fillStyleLst>
        <a:solidFill>
          <a:schemeClr val="accent1"/>
        </a:solidFill>
      </a:fillStyleLst>
      <a:lnStyleLst/>
      <a:effectStyleLst/>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core.xml><?xml version="1.0" encoding="utf-8"?>
<cp:coreProperties xmlns:cp="http://schemas.openxmlformats.org/package/2006/metadata/core-properties" xmlns:dc="http://purl.org/dc/elements/1.1/" xmlns:dcterms="http://purl.org/dc/terms/" xmlns:xsi="http://www.w3.org/2001/XMLSchema-instance">
  <dc:title>CropShield AI ? Agriculture Crop Advisory Assistant | Capstone Review</dc:title>
  <cp:lastModifiedBy>python-pptx</cp:lastModifiedBy>
  <cp:revision>1</cp:revision>
  <dcterms:modified xsi:type="dcterms:W3CDTF">2026-10-11T12:32:27Z</dcterms:modified>
  <dc:subject>Source-verified capstone presentation</dc:subject>
  <dc:creator>CropShield AI Project Team</dc:creator>
  <cp:keywords>CropShield AI, agriculture, hybrid retrieval, FAISS, Random Forest, evaluation</cp:keywords>
</cp:coreProperties>
</file>